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942"/>
                </a:solidFill>
                <a:latin typeface="Cambria"/>
              </a:defRPr>
            </a:pPr>
            <a:r>
              <a:rPr sz="1300" b="0" i="0" u="none" strike="noStrike">
                <a:solidFill>
                  <a:srgbClr val="0F2942"/>
                </a:solidFill>
                <a:latin typeface="Cambria"/>
              </a:rPr>
              <a:t>Ukuran tiap bagian (baris kode)</a:t>
            </a:r>
          </a:p>
        </c:rich>
      </c:tx>
      <c:layout/>
      <c:overlay val="0"/>
    </c:title>
    <c:autoTitleDeleted val="0"/>
    <c:plotArea>
      <c:layout/>
      <c:barChart>
        <c:barDir val="bar"/>
        <c:grouping val="clustered"/>
        <c:varyColors val="0"/>
        <c:ser>
          <c:idx val="0"/>
          <c:order val="0"/>
          <c:tx>
            <c:strRef>
              <c:f>Sheet1!$B$1</c:f>
              <c:strCache>
                <c:ptCount val="1"/>
                <c:pt idx="0">
                  <c:v>Baris kode</c:v>
                </c:pt>
              </c:strCache>
            </c:strRef>
          </c:tx>
          <c:spPr>
            <a:solidFill>
              <a:srgbClr val="1C7293"/>
            </a:solidFill>
            <a:effectLst/>
          </c:spPr>
          <c:invertIfNegative val="0"/>
          <c:dLbls>
            <c:numFmt formatCode="#,##0" sourceLinked="0"/>
            <c:txPr>
              <a:bodyPr/>
              <a:lstStyle/>
              <a:p>
                <a:pPr>
                  <a:defRPr b="0" i="0" strike="noStrike" sz="1100" u="none">
                    <a:solidFill>
                      <a:srgbClr val="16232E"/>
                    </a:solidFill>
                    <a:latin typeface="Calibri"/>
                  </a:defRPr>
                </a:pPr>
              </a:p>
            </c:txPr>
            <c:showLegendKey val="0"/>
            <c:showVal val="1"/>
            <c:showCatName val="0"/>
            <c:showSerName val="0"/>
            <c:showPercent val="0"/>
            <c:showBubbleSize val="0"/>
            <c:showLeaderLines val="0"/>
          </c:dLbls>
          <c:cat>
            <c:multiLvlStrRef>
              <c:f>Sheet1!$A$2:$A$5</c:f>
              <c:multiLvlStrCache>
                <c:ptCount val="4"/>
                <c:lvl>
                  <c:pt idx="0">
                    <c:v>JavaScript
(uji kontrak)</c:v>
                  </c:pt>
                  <c:pt idx="1">
                    <c:v>JavaScript + JSX
(antarmuka)</c:v>
                  </c:pt>
                  <c:pt idx="2">
                    <c:v>JavaScript
(gerbang oracle)</c:v>
                  </c:pt>
                  <c:pt idx="3">
                    <c:v>Solidity
(kontrak)</c:v>
                  </c:pt>
                </c:lvl>
              </c:multiLvlStrCache>
            </c:multiLvlStrRef>
          </c:cat>
          <c:val>
            <c:numRef>
              <c:f>Sheet1!$B$2:$B$5</c:f>
              <c:numCache>
                <c:formatCode>General</c:formatCode>
                <c:ptCount val="4"/>
                <c:pt idx="0">
                  <c:v>291</c:v>
                </c:pt>
                <c:pt idx="1">
                  <c:v>7662</c:v>
                </c:pt>
                <c:pt idx="2">
                  <c:v>2280</c:v>
                </c:pt>
                <c:pt idx="3">
                  <c:v>790</c:v>
                </c:pt>
              </c:numCache>
            </c:numRef>
          </c:val>
        </c:ser>
        <c:dLbls>
          <c:numFmt formatCode="#,##0" sourceLinked="0"/>
          <c:txPr>
            <a:bodyPr/>
            <a:lstStyle/>
            <a:p>
              <a:pPr>
                <a:defRPr b="0" i="0" strike="noStrike" sz="1100" u="none">
                  <a:solidFill>
                    <a:srgbClr val="16232E"/>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B78"/>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A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Sebut satu kalimat saja lalu diam sebentar: 'Dana dilepas oleh bukti, bukan oleh janji.'
Jangan mulai dengan teknologi. Offtaker tidak membeli blockchain, dia membeli kepastian.
Katakan sejak awal bahwa ini prototipe di jaringan uji — kejujuran ini yang membuat sisa presentasi dipercaya.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Bingkai masalahnya dari sisi offtaker, bukan dari sisi teknologi.
Tanya ke ruangan: 'Berapa lama uang Bapak/Ibu tertahan di L/C terakhir?' — biarkan mereka menjawab.
Poin kuncinya: keamanan dan kecepatan hari ini adalah pilihan yang saling meniadakan.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harus diingat orang kalau mereka lupa semua slide lain.
Tekankan 'termasuk kami'. Offtaker akan langsung berpikir: kalau bukan bank yang pegang, siapa? Jawabannya: kontrak, dan tidak ada seorang pun yang memegang kuncinya.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dengan bahasa barang, bukan bahasa kode: diperiksa, dikapalkan, tiba.
Kalimat penutup slide ini adalah jawaban untuk pertanyaan 'bagaimana kalau oracle-nya bohong?' — sampaikan sebelum ditanya.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ada satu slide yang membuat offtaker tenang, ini slide itu.
Timelock 24 jam adalah rem terakhir: setelah semua bukti masuk pun, masih ada satu hari penuh untuk menahan.
Bila ditanya 'kalau ternyata ada kesalahan setelah selesai?' — jawab jujur: setelah Selesai, dana sudah pindah. Justru itu sebabnya ada jendela sanggah dan timelock di depannya.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Istilah yang tepat: separation of duties, bukan MFA. Jangan tertukar — kalau juri atau offtaker punya latar perbankan, mereka langsung tahu bedanya dan itu menambah kredibilitas.
Di kontrak, peran ini benar-benar dipisah lewat AccessControl OpenZeppelin; alamat logistik secara teknis tidak bisa mengirim bukti kepabeanan.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sendiri bahwa sumber data masih simulasi, sebelum ditanya. Prototipe yang jujur tentang batasnya jauh lebih dipercaya daripada yang mengaku sudah tersambung ke Bea Cukai.
Kalimat terakhir menjawab kekhawatiran nomor satu offtaker soal blockchain: 'apakah harga dan pembeli saya jadi publik?' Tidak.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menjawab pertanyaan paling tajam: 'kenapa saya percaya oracle-nya?'
Jawaban: Anda tidak perlu percaya. Verifikator menaruh uangnya sendiri, dan uang itu hilang kalau dia bohong.
Angka 6 jam / 24 jam bisa disetel per kontrak saat penerapan — sebutkan itu kalau ada yang bilang terlalu lama atau terlalu singkat.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yang paling penting buat offtaker. Jangan lewati cepat.
Poin 3 adalah argumen komersial, bukan teknis — itu yang membuat orang keuangan ikut tertarik.
Kotak terakhir sengaja menyebut biayanya. Presentasi yang hanya menyebut untung terdengar seperti jualan; yang menyebut ongkosnya terdengar seperti tawaran serius.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Buat offtaker, ringkas jadi satu kalimat: 'Tampilan boleh diganti, gerbang boleh diganti, tapi aturan uangnya ada di lapis paling bawah dan itu tidak bisa diubah diam-diam.'
Lapis kedua adalah jawaban untuk 'apakah saya harus paham kripto?' — tidak, cukup akun Google, dan biaya gas tidak dibayar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ditanya 'pakai bahasa apa', jawaban pendeknya: Solidity untuk kontrak, JavaScript untuk sisanya.
Angka baris kode ini dihitung dari repositori, bukan kira-kira. Kalau ditanya, katakan begitu.
Antarmuka paling besar karena di situlah semua keadaan gagal harus ditampilkan dengan benar — itu bukan pemborosan, itu memang pekerjaannya.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audiens non-teknis, cukup baris pertama tiap kotak.
Baris OpenZeppelin penting kalau ada yang bertanya soal keamanan: bagian tersulit tidak kami tulis sendiri, kami pakai pustaka yang sudah diaudit banyak pihak.
Kotak paling bawah harus dibacakan. Jangan biarkan ada yang pulang mengira ini sudah memindahkan rupiah sungguhan.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Latih urutan ini sampai hafal, lalu jalankan pelan-pelan. Demo yang terburu-buru terlihat seperti menyembunyikan sesuatu.
Langkah 4 adalah puncak presentasi, bukan langkah 6. Beri jeda di situ dan biarkan orang membaca layar penolakannya.
Siapkan jawaban kalau demo gagal: 'ini jaringan uji, blok kadang lambat' — lalu tunjukkan tangkapan layar cadangan. Siapkan cadangannya sebelum naik panggung.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yang paling menentukan apakah Anda dipercaya. Bacakan kolom kanan tanpa berkelit.
Kalau ada yang menanyakan hal di kolom kanan, jawaban terbaiknya adalah menunjuk slide ini: 'benar, itu memang belum ada, dan kami sudah menulisnya di sini sebelum Bapak/Ibu bertanya.'
Jangan pernah mengaku sudah tersambung ke Bea Cukai. Satu klaim palsu meruntuhkan semua yang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Akhiri dengan permintaan yang kecil dan masuk akal. Meminta komitmen pembelian di depan prototipe akan ditolak, dan penolakan itu menutup pintu.
Meminta koreksi justru membuat offtaker merasa dilibatkan — dan jawaban mereka adalah bahan paling berharga yang bisa Anda bawa pulang.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menutup dengan 'ada pertanyaan?' lalu diam. Pancing pertanyaan sulitnya sendiri.
Tiga pertanyaan yang paling mungkin datang, siapkan jawabannya:
1. 'Kalau internet atau gerbang oracle mati?' — dana tetap terkunci, dan tenggat global tetap mengembalikan dana ke importir.
2. 'Siapa yang menanggung kalau kontraknya ada bug?' — jujur: belum diaudit pihak ketiga, itu ada di kolom kanan slide status.
3. 'Apa bedanya dengan escrow bank biasa?' — bank bisa menahan atas pertimbangannya sendiri; kontrak tidak bisa, dan aturannya bisa Anda baca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p:bgPr>
    </p:bg>
    <p:spTree>
      <p:nvGrpSpPr>
        <p:cNvPr id="1" name=""/>
        <p:cNvGrpSpPr/>
        <p:nvPr/>
      </p:nvGrpSpPr>
      <p:grpSpPr>
        <a:xfrm>
          <a:off x="0" y="0"/>
          <a:ext cx="0" cy="0"/>
          <a:chOff x="0" y="0"/>
          <a:chExt cx="0" cy="0"/>
        </a:xfrm>
      </p:grpSpPr>
      <p:sp>
        <p:nvSpPr>
          <p:cNvPr id="2" name="Text 0"/>
          <p:cNvSpPr txBox="1"/>
          <p:nvPr/>
        </p:nvSpPr>
        <p:spPr>
          <a:xfrm>
            <a:off x="822960" y="1828800"/>
            <a:ext cx="86868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STERN Protocol</a:t>
            </a:r>
            <a:endParaRPr lang="en-US" sz="5400" dirty="0"/>
          </a:p>
        </p:txBody>
      </p:sp>
      <p:sp>
        <p:nvSpPr>
          <p:cNvPr id="3" name="Text 1"/>
          <p:cNvSpPr txBox="1"/>
          <p:nvPr/>
        </p:nvSpPr>
        <p:spPr>
          <a:xfrm>
            <a:off x="822960" y="2971800"/>
            <a:ext cx="8412480" cy="548640"/>
          </a:xfrm>
          <a:prstGeom prst="rect">
            <a:avLst/>
          </a:prstGeom>
          <a:noFill/>
          <a:ln/>
        </p:spPr>
        <p:txBody>
          <a:bodyPr wrap="square" lIns="0" tIns="0" rIns="0" bIns="0" rtlCol="0" anchor="ctr"/>
          <a:lstStyle/>
          <a:p>
            <a:pPr indent="0" marL="0">
              <a:buNone/>
            </a:pPr>
            <a:r>
              <a:rPr lang="en-US" sz="2000" dirty="0">
                <a:solidFill>
                  <a:srgbClr val="A8C4D6"/>
                </a:solidFill>
                <a:latin typeface="Calibri" pitchFamily="34" charset="0"/>
                <a:ea typeface="Calibri" pitchFamily="34" charset="-122"/>
                <a:cs typeface="Calibri" pitchFamily="34" charset="-120"/>
              </a:rPr>
              <a:t>Escrow pintar untuk penyelesaian pembayaran ekspor–impor</a:t>
            </a:r>
            <a:endParaRPr lang="en-US" sz="2000" dirty="0"/>
          </a:p>
        </p:txBody>
      </p:sp>
      <p:sp>
        <p:nvSpPr>
          <p:cNvPr id="4" name="Text 2"/>
          <p:cNvSpPr txBox="1"/>
          <p:nvPr/>
        </p:nvSpPr>
        <p:spPr>
          <a:xfrm>
            <a:off x="822960" y="3611880"/>
            <a:ext cx="8412480" cy="457200"/>
          </a:xfrm>
          <a:prstGeom prst="rect">
            <a:avLst/>
          </a:prstGeom>
          <a:noFill/>
          <a:ln/>
        </p:spPr>
        <p:txBody>
          <a:bodyPr wrap="square" lIns="0" tIns="0" rIns="0" bIns="0" rtlCol="0" anchor="ctr"/>
          <a:lstStyle/>
          <a:p>
            <a:pPr indent="0" marL="0">
              <a:buNone/>
            </a:pPr>
            <a:r>
              <a:rPr lang="en-US" sz="1700" i="1" dirty="0">
                <a:solidFill>
                  <a:srgbClr val="E8A33D"/>
                </a:solidFill>
                <a:latin typeface="Cambria" pitchFamily="34" charset="0"/>
                <a:ea typeface="Cambria" pitchFamily="34" charset="-122"/>
                <a:cs typeface="Cambria" pitchFamily="34" charset="-120"/>
              </a:rPr>
              <a:t>Dana dilepas oleh bukti, bukan oleh janji.</a:t>
            </a:r>
            <a:endParaRPr lang="en-US" sz="1700" dirty="0"/>
          </a:p>
        </p:txBody>
      </p:sp>
      <p:sp>
        <p:nvSpPr>
          <p:cNvPr id="5" name="Shape 3"/>
          <p:cNvSpPr/>
          <p:nvPr/>
        </p:nvSpPr>
        <p:spPr>
          <a:xfrm>
            <a:off x="822960" y="4937760"/>
            <a:ext cx="2148840" cy="502920"/>
          </a:xfrm>
          <a:prstGeom prst="roundRect">
            <a:avLst>
              <a:gd name="adj" fmla="val 49091"/>
            </a:avLst>
          </a:prstGeom>
          <a:solidFill>
            <a:srgbClr val="1B3E5C"/>
          </a:solidFill>
          <a:ln/>
        </p:spPr>
      </p:sp>
      <p:sp>
        <p:nvSpPr>
          <p:cNvPr id="6" name="Text 4"/>
          <p:cNvSpPr txBox="1"/>
          <p:nvPr/>
        </p:nvSpPr>
        <p:spPr>
          <a:xfrm>
            <a:off x="822960" y="4937760"/>
            <a:ext cx="2148840" cy="502920"/>
          </a:xfrm>
          <a:prstGeom prst="rect">
            <a:avLst/>
          </a:prstGeom>
          <a:noFill/>
          <a:ln/>
        </p:spPr>
        <p:txBody>
          <a:bodyPr wrap="square" lIns="0" tIns="0" rIns="0" bIns="0" rtlCol="0" anchor="ctr"/>
          <a:lstStyle/>
          <a:p>
            <a:pPr algn="ctr" indent="0" marL="0">
              <a:buNone/>
            </a:pPr>
            <a:r>
              <a:rPr lang="en-US" sz="1200" b="1" dirty="0">
                <a:solidFill>
                  <a:srgbClr val="CFE2EE"/>
                </a:solidFill>
                <a:latin typeface="Calibri" pitchFamily="34" charset="0"/>
                <a:ea typeface="Calibri" pitchFamily="34" charset="-122"/>
                <a:cs typeface="Calibri" pitchFamily="34" charset="-120"/>
              </a:rPr>
              <a:t>Inspeksi</a:t>
            </a:r>
            <a:endParaRPr lang="en-US" sz="1200" dirty="0"/>
          </a:p>
        </p:txBody>
      </p:sp>
      <p:sp>
        <p:nvSpPr>
          <p:cNvPr id="7" name="Shape 5"/>
          <p:cNvSpPr/>
          <p:nvPr/>
        </p:nvSpPr>
        <p:spPr>
          <a:xfrm>
            <a:off x="3200400" y="4937760"/>
            <a:ext cx="2148840" cy="502920"/>
          </a:xfrm>
          <a:prstGeom prst="roundRect">
            <a:avLst>
              <a:gd name="adj" fmla="val 49091"/>
            </a:avLst>
          </a:prstGeom>
          <a:solidFill>
            <a:srgbClr val="1B3E5C"/>
          </a:solidFill>
          <a:ln/>
        </p:spPr>
      </p:sp>
      <p:sp>
        <p:nvSpPr>
          <p:cNvPr id="8" name="Text 6"/>
          <p:cNvSpPr txBox="1"/>
          <p:nvPr/>
        </p:nvSpPr>
        <p:spPr>
          <a:xfrm>
            <a:off x="3200400" y="4937760"/>
            <a:ext cx="2148840" cy="502920"/>
          </a:xfrm>
          <a:prstGeom prst="rect">
            <a:avLst/>
          </a:prstGeom>
          <a:noFill/>
          <a:ln/>
        </p:spPr>
        <p:txBody>
          <a:bodyPr wrap="square" lIns="0" tIns="0" rIns="0" bIns="0" rtlCol="0" anchor="ctr"/>
          <a:lstStyle/>
          <a:p>
            <a:pPr algn="ctr" indent="0" marL="0">
              <a:buNone/>
            </a:pPr>
            <a:r>
              <a:rPr lang="en-US" sz="1200" b="1" dirty="0">
                <a:solidFill>
                  <a:srgbClr val="CFE2EE"/>
                </a:solidFill>
                <a:latin typeface="Calibri" pitchFamily="34" charset="0"/>
                <a:ea typeface="Calibri" pitchFamily="34" charset="-122"/>
                <a:cs typeface="Calibri" pitchFamily="34" charset="-120"/>
              </a:rPr>
              <a:t>Pengapalan</a:t>
            </a:r>
            <a:endParaRPr lang="en-US" sz="1200" dirty="0"/>
          </a:p>
        </p:txBody>
      </p:sp>
      <p:sp>
        <p:nvSpPr>
          <p:cNvPr id="9" name="Shape 7"/>
          <p:cNvSpPr/>
          <p:nvPr/>
        </p:nvSpPr>
        <p:spPr>
          <a:xfrm>
            <a:off x="5577840" y="4937760"/>
            <a:ext cx="2148840" cy="502920"/>
          </a:xfrm>
          <a:prstGeom prst="roundRect">
            <a:avLst>
              <a:gd name="adj" fmla="val 49091"/>
            </a:avLst>
          </a:prstGeom>
          <a:solidFill>
            <a:srgbClr val="1B3E5C"/>
          </a:solidFill>
          <a:ln/>
        </p:spPr>
      </p:sp>
      <p:sp>
        <p:nvSpPr>
          <p:cNvPr id="10" name="Text 8"/>
          <p:cNvSpPr txBox="1"/>
          <p:nvPr/>
        </p:nvSpPr>
        <p:spPr>
          <a:xfrm>
            <a:off x="5577840" y="4937760"/>
            <a:ext cx="2148840" cy="502920"/>
          </a:xfrm>
          <a:prstGeom prst="rect">
            <a:avLst/>
          </a:prstGeom>
          <a:noFill/>
          <a:ln/>
        </p:spPr>
        <p:txBody>
          <a:bodyPr wrap="square" lIns="0" tIns="0" rIns="0" bIns="0" rtlCol="0" anchor="ctr"/>
          <a:lstStyle/>
          <a:p>
            <a:pPr algn="ctr" indent="0" marL="0">
              <a:buNone/>
            </a:pPr>
            <a:r>
              <a:rPr lang="en-US" sz="1200" b="1" dirty="0">
                <a:solidFill>
                  <a:srgbClr val="CFE2EE"/>
                </a:solidFill>
                <a:latin typeface="Calibri" pitchFamily="34" charset="0"/>
                <a:ea typeface="Calibri" pitchFamily="34" charset="-122"/>
                <a:cs typeface="Calibri" pitchFamily="34" charset="-120"/>
              </a:rPr>
              <a:t>Tiba &amp; Bea Cukai</a:t>
            </a:r>
            <a:endParaRPr lang="en-US" sz="1200" dirty="0"/>
          </a:p>
        </p:txBody>
      </p:sp>
      <p:sp>
        <p:nvSpPr>
          <p:cNvPr id="11" name="Text 9"/>
          <p:cNvSpPr txBox="1"/>
          <p:nvPr/>
        </p:nvSpPr>
        <p:spPr>
          <a:xfrm>
            <a:off x="822960" y="5806440"/>
            <a:ext cx="7315200" cy="365760"/>
          </a:xfrm>
          <a:prstGeom prst="rect">
            <a:avLst/>
          </a:prstGeom>
          <a:noFill/>
          <a:ln/>
        </p:spPr>
        <p:txBody>
          <a:bodyPr wrap="square" lIns="0" tIns="0" rIns="0" bIns="0" rtlCol="0" anchor="ctr"/>
          <a:lstStyle/>
          <a:p>
            <a:pPr indent="0" marL="0">
              <a:buNone/>
            </a:pPr>
            <a:r>
              <a:rPr lang="en-US" sz="1200" dirty="0">
                <a:solidFill>
                  <a:srgbClr val="6E8CA3"/>
                </a:solidFill>
                <a:latin typeface="Calibri" pitchFamily="34" charset="0"/>
                <a:ea typeface="Calibri" pitchFamily="34" charset="-122"/>
                <a:cs typeface="Calibri" pitchFamily="34" charset="-120"/>
              </a:rPr>
              <a:t>Prototipe  ·  Polygon Amoy Testnet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MASALAH</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Dua pilihan, dan keduanya menyakitkan</a:t>
            </a:r>
            <a:endParaRPr lang="en-US" sz="3400" dirty="0"/>
          </a:p>
        </p:txBody>
      </p:sp>
      <p:sp>
        <p:nvSpPr>
          <p:cNvPr id="4" name="Shape 2"/>
          <p:cNvSpPr/>
          <p:nvPr/>
        </p:nvSpPr>
        <p:spPr>
          <a:xfrm>
            <a:off x="640080" y="1417320"/>
            <a:ext cx="5212080" cy="3520440"/>
          </a:xfrm>
          <a:prstGeom prst="roundRect">
            <a:avLst>
              <a:gd name="adj" fmla="val 2078"/>
            </a:avLst>
          </a:prstGeom>
          <a:solidFill>
            <a:srgbClr val="F1F5F8"/>
          </a:solidFill>
          <a:ln/>
        </p:spPr>
      </p:sp>
      <p:sp>
        <p:nvSpPr>
          <p:cNvPr id="5" name="Text 3"/>
          <p:cNvSpPr txBox="1"/>
          <p:nvPr/>
        </p:nvSpPr>
        <p:spPr>
          <a:xfrm>
            <a:off x="1051560" y="1691640"/>
            <a:ext cx="4480560" cy="365760"/>
          </a:xfrm>
          <a:prstGeom prst="rect">
            <a:avLst/>
          </a:prstGeom>
          <a:noFill/>
          <a:ln/>
        </p:spPr>
        <p:txBody>
          <a:bodyPr wrap="square" lIns="0" tIns="0" rIns="0" bIns="0" rtlCol="0" anchor="t"/>
          <a:lstStyle/>
          <a:p>
            <a:pPr indent="0" marL="0">
              <a:buNone/>
            </a:pPr>
            <a:r>
              <a:rPr lang="en-US" sz="2100" b="1" dirty="0">
                <a:solidFill>
                  <a:srgbClr val="0F2942"/>
                </a:solidFill>
                <a:latin typeface="Cambria" pitchFamily="34" charset="0"/>
                <a:ea typeface="Cambria" pitchFamily="34" charset="-122"/>
                <a:cs typeface="Cambria" pitchFamily="34" charset="-120"/>
              </a:rPr>
              <a:t>Letter of Credit</a:t>
            </a:r>
            <a:endParaRPr lang="en-US" sz="2100" dirty="0"/>
          </a:p>
        </p:txBody>
      </p:sp>
      <p:sp>
        <p:nvSpPr>
          <p:cNvPr id="6" name="Text 4"/>
          <p:cNvSpPr txBox="1"/>
          <p:nvPr/>
        </p:nvSpPr>
        <p:spPr>
          <a:xfrm>
            <a:off x="1051560" y="2130552"/>
            <a:ext cx="4480560" cy="365760"/>
          </a:xfrm>
          <a:prstGeom prst="rect">
            <a:avLst/>
          </a:prstGeom>
          <a:noFill/>
          <a:ln/>
        </p:spPr>
        <p:txBody>
          <a:bodyPr wrap="square" lIns="0" tIns="0" rIns="0" bIns="0" rtlCol="0" anchor="t"/>
          <a:lstStyle/>
          <a:p>
            <a:pPr indent="0" marL="0">
              <a:lnSpc>
                <a:spcPts val="2000"/>
              </a:lnSpc>
              <a:buNone/>
            </a:pPr>
            <a:r>
              <a:rPr lang="en-US" sz="1300" b="1" dirty="0">
                <a:solidFill>
                  <a:srgbClr val="B5462F"/>
                </a:solidFill>
                <a:latin typeface="Calibri" pitchFamily="34" charset="0"/>
                <a:ea typeface="Calibri" pitchFamily="34" charset="-122"/>
                <a:cs typeface="Calibri" pitchFamily="34" charset="-120"/>
              </a:rPr>
              <a:t>Aman, tetapi mahal dan lambat.</a:t>
            </a:r>
            <a:endParaRPr lang="en-US" sz="1300" dirty="0"/>
          </a:p>
        </p:txBody>
      </p:sp>
      <p:sp>
        <p:nvSpPr>
          <p:cNvPr id="7" name="Text 5"/>
          <p:cNvSpPr txBox="1"/>
          <p:nvPr/>
        </p:nvSpPr>
        <p:spPr>
          <a:xfrm>
            <a:off x="1051560" y="2697480"/>
            <a:ext cx="4480560" cy="2011680"/>
          </a:xfrm>
          <a:prstGeom prst="rect">
            <a:avLst/>
          </a:prstGeom>
          <a:noFill/>
          <a:ln/>
        </p:spPr>
        <p:txBody>
          <a:bodyPr wrap="square" lIns="0" tIns="0" rIns="0" bIns="0" rtlCol="0" anchor="ctr"/>
          <a:lstStyle/>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Biaya bank di kedua sisi</a:t>
            </a:r>
            <a:endParaRPr lang="en-US" sz="1400" dirty="0"/>
          </a:p>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Tumpukan dokumen kertas</a:t>
            </a:r>
            <a:endParaRPr lang="en-US" sz="1400" dirty="0"/>
          </a:p>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Pembayaran tertahan berminggu-minggu</a:t>
            </a:r>
            <a:endParaRPr lang="en-US" sz="1400" dirty="0"/>
          </a:p>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Berat untuk eksportir kecil dan menengah</a:t>
            </a:r>
            <a:endParaRPr lang="en-US" sz="1400" dirty="0"/>
          </a:p>
        </p:txBody>
      </p:sp>
      <p:sp>
        <p:nvSpPr>
          <p:cNvPr id="8" name="Shape 6"/>
          <p:cNvSpPr/>
          <p:nvPr/>
        </p:nvSpPr>
        <p:spPr>
          <a:xfrm>
            <a:off x="6309360" y="1417320"/>
            <a:ext cx="5212080" cy="3520440"/>
          </a:xfrm>
          <a:prstGeom prst="roundRect">
            <a:avLst>
              <a:gd name="adj" fmla="val 2078"/>
            </a:avLst>
          </a:prstGeom>
          <a:solidFill>
            <a:srgbClr val="F1F5F8"/>
          </a:solidFill>
          <a:ln/>
        </p:spPr>
      </p:sp>
      <p:sp>
        <p:nvSpPr>
          <p:cNvPr id="9" name="Text 7"/>
          <p:cNvSpPr txBox="1"/>
          <p:nvPr/>
        </p:nvSpPr>
        <p:spPr>
          <a:xfrm>
            <a:off x="6720840" y="1691640"/>
            <a:ext cx="4480560" cy="365760"/>
          </a:xfrm>
          <a:prstGeom prst="rect">
            <a:avLst/>
          </a:prstGeom>
          <a:noFill/>
          <a:ln/>
        </p:spPr>
        <p:txBody>
          <a:bodyPr wrap="square" lIns="0" tIns="0" rIns="0" bIns="0" rtlCol="0" anchor="t"/>
          <a:lstStyle/>
          <a:p>
            <a:pPr indent="0" marL="0">
              <a:buNone/>
            </a:pPr>
            <a:r>
              <a:rPr lang="en-US" sz="2100" b="1" dirty="0">
                <a:solidFill>
                  <a:srgbClr val="0F2942"/>
                </a:solidFill>
                <a:latin typeface="Cambria" pitchFamily="34" charset="0"/>
                <a:ea typeface="Cambria" pitchFamily="34" charset="-122"/>
                <a:cs typeface="Cambria" pitchFamily="34" charset="-120"/>
              </a:rPr>
              <a:t>Open Account</a:t>
            </a:r>
            <a:endParaRPr lang="en-US" sz="2100" dirty="0"/>
          </a:p>
        </p:txBody>
      </p:sp>
      <p:sp>
        <p:nvSpPr>
          <p:cNvPr id="10" name="Text 8"/>
          <p:cNvSpPr txBox="1"/>
          <p:nvPr/>
        </p:nvSpPr>
        <p:spPr>
          <a:xfrm>
            <a:off x="6720840" y="2130552"/>
            <a:ext cx="4480560" cy="365760"/>
          </a:xfrm>
          <a:prstGeom prst="rect">
            <a:avLst/>
          </a:prstGeom>
          <a:noFill/>
          <a:ln/>
        </p:spPr>
        <p:txBody>
          <a:bodyPr wrap="square" lIns="0" tIns="0" rIns="0" bIns="0" rtlCol="0" anchor="t"/>
          <a:lstStyle/>
          <a:p>
            <a:pPr indent="0" marL="0">
              <a:lnSpc>
                <a:spcPts val="2000"/>
              </a:lnSpc>
              <a:buNone/>
            </a:pPr>
            <a:r>
              <a:rPr lang="en-US" sz="1300" b="1" dirty="0">
                <a:solidFill>
                  <a:srgbClr val="E8A33D"/>
                </a:solidFill>
                <a:latin typeface="Calibri" pitchFamily="34" charset="0"/>
                <a:ea typeface="Calibri" pitchFamily="34" charset="-122"/>
                <a:cs typeface="Calibri" pitchFamily="34" charset="-120"/>
              </a:rPr>
              <a:t>Cepat dan murah, tetapi bertaruh.</a:t>
            </a:r>
            <a:endParaRPr lang="en-US" sz="1300" dirty="0"/>
          </a:p>
        </p:txBody>
      </p:sp>
      <p:sp>
        <p:nvSpPr>
          <p:cNvPr id="11" name="Text 9"/>
          <p:cNvSpPr txBox="1"/>
          <p:nvPr/>
        </p:nvSpPr>
        <p:spPr>
          <a:xfrm>
            <a:off x="6720840" y="2697480"/>
            <a:ext cx="4480560" cy="2011680"/>
          </a:xfrm>
          <a:prstGeom prst="rect">
            <a:avLst/>
          </a:prstGeom>
          <a:noFill/>
          <a:ln/>
        </p:spPr>
        <p:txBody>
          <a:bodyPr wrap="square" lIns="0" tIns="0" rIns="0" bIns="0" rtlCol="0" anchor="ctr"/>
          <a:lstStyle/>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Barang dikirim sebelum dibayar</a:t>
            </a:r>
            <a:endParaRPr lang="en-US" sz="1400" dirty="0"/>
          </a:p>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Risiko gagal bayar ditanggung eksportir</a:t>
            </a:r>
            <a:endParaRPr lang="en-US" sz="1400" dirty="0"/>
          </a:p>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Sengketa selesai lewat pengadilan</a:t>
            </a:r>
            <a:endParaRPr lang="en-US" sz="1400" dirty="0"/>
          </a:p>
          <a:p>
            <a:pPr marL="342900" indent="-342900">
              <a:spcAft>
                <a:spcPts val="1100"/>
              </a:spcAft>
              <a:buSzPct val="100000"/>
              <a:buChar char="•"/>
            </a:pPr>
            <a:r>
              <a:rPr lang="en-US" sz="1400" dirty="0">
                <a:solidFill>
                  <a:srgbClr val="5A6B78"/>
                </a:solidFill>
                <a:latin typeface="Calibri" pitchFamily="34" charset="0"/>
                <a:ea typeface="Calibri" pitchFamily="34" charset="-122"/>
                <a:cs typeface="Calibri" pitchFamily="34" charset="-120"/>
              </a:rPr>
              <a:t>Hanya jalan bila sudah saling kenal</a:t>
            </a:r>
            <a:endParaRPr lang="en-US" sz="1400" dirty="0"/>
          </a:p>
        </p:txBody>
      </p:sp>
      <p:sp>
        <p:nvSpPr>
          <p:cNvPr id="12" name="Shape 10"/>
          <p:cNvSpPr/>
          <p:nvPr/>
        </p:nvSpPr>
        <p:spPr>
          <a:xfrm>
            <a:off x="640080" y="5212080"/>
            <a:ext cx="10881360" cy="960120"/>
          </a:xfrm>
          <a:prstGeom prst="roundRect">
            <a:avLst>
              <a:gd name="adj" fmla="val 7619"/>
            </a:avLst>
          </a:prstGeom>
          <a:solidFill>
            <a:srgbClr val="0F2942"/>
          </a:solidFill>
          <a:ln/>
        </p:spPr>
      </p:sp>
      <p:sp>
        <p:nvSpPr>
          <p:cNvPr id="13" name="Text 11"/>
          <p:cNvSpPr txBox="1"/>
          <p:nvPr/>
        </p:nvSpPr>
        <p:spPr>
          <a:xfrm>
            <a:off x="1051560" y="5212080"/>
            <a:ext cx="10058400" cy="96012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Di antara keduanya tidak ada apa-apa. Itulah ruang yang diisi STERN.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942"/>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GAGASAN</a:t>
            </a:r>
            <a:endParaRPr lang="en-US" sz="1100" dirty="0"/>
          </a:p>
        </p:txBody>
      </p:sp>
      <p:sp>
        <p:nvSpPr>
          <p:cNvPr id="3" name="Text 1"/>
          <p:cNvSpPr txBox="1"/>
          <p:nvPr/>
        </p:nvSpPr>
        <p:spPr>
          <a:xfrm>
            <a:off x="640080" y="1371600"/>
            <a:ext cx="10881360" cy="164592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Uang pembeli dikunci oleh kontrak, bukan oleh bank.</a:t>
            </a:r>
            <a:endParaRPr lang="en-US" sz="4000" dirty="0"/>
          </a:p>
        </p:txBody>
      </p:sp>
      <p:sp>
        <p:nvSpPr>
          <p:cNvPr id="4" name="Text 2"/>
          <p:cNvSpPr txBox="1"/>
          <p:nvPr/>
        </p:nvSpPr>
        <p:spPr>
          <a:xfrm>
            <a:off x="640080" y="3246120"/>
            <a:ext cx="10424160" cy="1371600"/>
          </a:xfrm>
          <a:prstGeom prst="rect">
            <a:avLst/>
          </a:prstGeom>
          <a:noFill/>
          <a:ln/>
        </p:spPr>
        <p:txBody>
          <a:bodyPr wrap="square" lIns="0" tIns="0" rIns="0" bIns="0" rtlCol="0" anchor="ctr"/>
          <a:lstStyle/>
          <a:p>
            <a:pPr indent="0" marL="0">
              <a:lnSpc>
                <a:spcPts val="2800"/>
              </a:lnSpc>
              <a:buNone/>
            </a:pPr>
            <a:r>
              <a:rPr lang="en-US" sz="1800" dirty="0">
                <a:solidFill>
                  <a:srgbClr val="A8C4D6"/>
                </a:solidFill>
                <a:latin typeface="Calibri" pitchFamily="34" charset="0"/>
                <a:ea typeface="Calibri" pitchFamily="34" charset="-122"/>
                <a:cs typeface="Calibri" pitchFamily="34" charset="-120"/>
              </a:rPr>
              <a:t>Kunci itu hanya terbuka ketika tiga lembaga yang berbeda — masing-masing menyatakan fakta yang berbeda — sudah menaruh buktinya di atas rantai. Tidak ada satu pihak pun, termasuk kami, yang bisa membuka lebih cepat.</a:t>
            </a:r>
            <a:endParaRPr lang="en-US" sz="1800" dirty="0"/>
          </a:p>
        </p:txBody>
      </p:sp>
      <p:sp>
        <p:nvSpPr>
          <p:cNvPr id="5" name="Shape 3"/>
          <p:cNvSpPr/>
          <p:nvPr/>
        </p:nvSpPr>
        <p:spPr>
          <a:xfrm>
            <a:off x="640080" y="5029200"/>
            <a:ext cx="457200" cy="457200"/>
          </a:xfrm>
          <a:prstGeom prst="ellipse">
            <a:avLst/>
          </a:prstGeom>
          <a:solidFill>
            <a:srgbClr val="E8A33D"/>
          </a:solidFill>
          <a:ln/>
        </p:spPr>
      </p:sp>
      <p:sp>
        <p:nvSpPr>
          <p:cNvPr id="6" name="Text 4"/>
          <p:cNvSpPr txBox="1"/>
          <p:nvPr/>
        </p:nvSpPr>
        <p:spPr>
          <a:xfrm>
            <a:off x="640080" y="5029200"/>
            <a:ext cx="457200" cy="457200"/>
          </a:xfrm>
          <a:prstGeom prst="rect">
            <a:avLst/>
          </a:prstGeom>
          <a:noFill/>
          <a:ln/>
        </p:spPr>
        <p:txBody>
          <a:bodyPr wrap="square" lIns="0" tIns="0" rIns="0" bIns="0" rtlCol="0" anchor="ctr"/>
          <a:lstStyle/>
          <a:p>
            <a:pPr algn="ctr" indent="0" marL="0">
              <a:buNone/>
            </a:pPr>
            <a:r>
              <a:rPr lang="en-US" sz="1400" b="1" dirty="0">
                <a:solidFill>
                  <a:srgbClr val="0F2942"/>
                </a:solidFill>
                <a:latin typeface="Cambria" pitchFamily="34" charset="0"/>
                <a:ea typeface="Cambria" pitchFamily="34" charset="-122"/>
                <a:cs typeface="Cambria" pitchFamily="34" charset="-120"/>
              </a:rPr>
              <a:t>✓</a:t>
            </a:r>
            <a:endParaRPr lang="en-US" sz="1400" dirty="0"/>
          </a:p>
        </p:txBody>
      </p:sp>
      <p:sp>
        <p:nvSpPr>
          <p:cNvPr id="7" name="Text 5"/>
          <p:cNvSpPr txBox="1"/>
          <p:nvPr/>
        </p:nvSpPr>
        <p:spPr>
          <a:xfrm>
            <a:off x="1261872" y="5047488"/>
            <a:ext cx="2834640" cy="2743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Eksportir</a:t>
            </a:r>
            <a:endParaRPr lang="en-US" sz="1500" dirty="0"/>
          </a:p>
        </p:txBody>
      </p:sp>
      <p:sp>
        <p:nvSpPr>
          <p:cNvPr id="8" name="Text 6"/>
          <p:cNvSpPr txBox="1"/>
          <p:nvPr/>
        </p:nvSpPr>
        <p:spPr>
          <a:xfrm>
            <a:off x="1261872" y="5358384"/>
            <a:ext cx="2834640" cy="731520"/>
          </a:xfrm>
          <a:prstGeom prst="rect">
            <a:avLst/>
          </a:prstGeom>
          <a:noFill/>
          <a:ln/>
        </p:spPr>
        <p:txBody>
          <a:bodyPr wrap="square" lIns="0" tIns="0" rIns="0" bIns="0" rtlCol="0" anchor="t"/>
          <a:lstStyle/>
          <a:p>
            <a:pPr indent="0" marL="0">
              <a:lnSpc>
                <a:spcPts val="1500"/>
              </a:lnSpc>
              <a:buNone/>
            </a:pPr>
            <a:r>
              <a:rPr lang="en-US" sz="1200" dirty="0">
                <a:solidFill>
                  <a:srgbClr val="7E9DB3"/>
                </a:solidFill>
                <a:latin typeface="Calibri" pitchFamily="34" charset="0"/>
                <a:ea typeface="Calibri" pitchFamily="34" charset="-122"/>
                <a:cs typeface="Calibri" pitchFamily="34" charset="-120"/>
              </a:rPr>
              <a:t>tahu dananya sudah ada sebelum mengapalkan</a:t>
            </a:r>
            <a:endParaRPr lang="en-US" sz="1200" dirty="0"/>
          </a:p>
        </p:txBody>
      </p:sp>
      <p:sp>
        <p:nvSpPr>
          <p:cNvPr id="9" name="Shape 7"/>
          <p:cNvSpPr/>
          <p:nvPr/>
        </p:nvSpPr>
        <p:spPr>
          <a:xfrm>
            <a:off x="4297680" y="5029200"/>
            <a:ext cx="457200" cy="457200"/>
          </a:xfrm>
          <a:prstGeom prst="ellipse">
            <a:avLst/>
          </a:prstGeom>
          <a:solidFill>
            <a:srgbClr val="E8A33D"/>
          </a:solidFill>
          <a:ln/>
        </p:spPr>
      </p:sp>
      <p:sp>
        <p:nvSpPr>
          <p:cNvPr id="10" name="Text 8"/>
          <p:cNvSpPr txBox="1"/>
          <p:nvPr/>
        </p:nvSpPr>
        <p:spPr>
          <a:xfrm>
            <a:off x="4297680" y="5029200"/>
            <a:ext cx="457200" cy="457200"/>
          </a:xfrm>
          <a:prstGeom prst="rect">
            <a:avLst/>
          </a:prstGeom>
          <a:noFill/>
          <a:ln/>
        </p:spPr>
        <p:txBody>
          <a:bodyPr wrap="square" lIns="0" tIns="0" rIns="0" bIns="0" rtlCol="0" anchor="ctr"/>
          <a:lstStyle/>
          <a:p>
            <a:pPr algn="ctr" indent="0" marL="0">
              <a:buNone/>
            </a:pPr>
            <a:r>
              <a:rPr lang="en-US" sz="1400" b="1" dirty="0">
                <a:solidFill>
                  <a:srgbClr val="0F2942"/>
                </a:solidFill>
                <a:latin typeface="Cambria" pitchFamily="34" charset="0"/>
                <a:ea typeface="Cambria" pitchFamily="34" charset="-122"/>
                <a:cs typeface="Cambria" pitchFamily="34" charset="-120"/>
              </a:rPr>
              <a:t>✓</a:t>
            </a:r>
            <a:endParaRPr lang="en-US" sz="1400" dirty="0"/>
          </a:p>
        </p:txBody>
      </p:sp>
      <p:sp>
        <p:nvSpPr>
          <p:cNvPr id="11" name="Text 9"/>
          <p:cNvSpPr txBox="1"/>
          <p:nvPr/>
        </p:nvSpPr>
        <p:spPr>
          <a:xfrm>
            <a:off x="4919472" y="5047488"/>
            <a:ext cx="2834640" cy="2743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Offtaker</a:t>
            </a:r>
            <a:endParaRPr lang="en-US" sz="1500" dirty="0"/>
          </a:p>
        </p:txBody>
      </p:sp>
      <p:sp>
        <p:nvSpPr>
          <p:cNvPr id="12" name="Text 10"/>
          <p:cNvSpPr txBox="1"/>
          <p:nvPr/>
        </p:nvSpPr>
        <p:spPr>
          <a:xfrm>
            <a:off x="4919472" y="5358384"/>
            <a:ext cx="2834640" cy="731520"/>
          </a:xfrm>
          <a:prstGeom prst="rect">
            <a:avLst/>
          </a:prstGeom>
          <a:noFill/>
          <a:ln/>
        </p:spPr>
        <p:txBody>
          <a:bodyPr wrap="square" lIns="0" tIns="0" rIns="0" bIns="0" rtlCol="0" anchor="t"/>
          <a:lstStyle/>
          <a:p>
            <a:pPr indent="0" marL="0">
              <a:lnSpc>
                <a:spcPts val="1500"/>
              </a:lnSpc>
              <a:buNone/>
            </a:pPr>
            <a:r>
              <a:rPr lang="en-US" sz="1200" dirty="0">
                <a:solidFill>
                  <a:srgbClr val="7E9DB3"/>
                </a:solidFill>
                <a:latin typeface="Calibri" pitchFamily="34" charset="0"/>
                <a:ea typeface="Calibri" pitchFamily="34" charset="-122"/>
                <a:cs typeface="Calibri" pitchFamily="34" charset="-120"/>
              </a:rPr>
              <a:t>tahu dananya tidak lepas sebelum barang tiba</a:t>
            </a:r>
            <a:endParaRPr lang="en-US" sz="1200" dirty="0"/>
          </a:p>
        </p:txBody>
      </p:sp>
      <p:sp>
        <p:nvSpPr>
          <p:cNvPr id="13" name="Shape 11"/>
          <p:cNvSpPr/>
          <p:nvPr/>
        </p:nvSpPr>
        <p:spPr>
          <a:xfrm>
            <a:off x="7955280" y="5029200"/>
            <a:ext cx="457200" cy="457200"/>
          </a:xfrm>
          <a:prstGeom prst="ellipse">
            <a:avLst/>
          </a:prstGeom>
          <a:solidFill>
            <a:srgbClr val="E8A33D"/>
          </a:solidFill>
          <a:ln/>
        </p:spPr>
      </p:sp>
      <p:sp>
        <p:nvSpPr>
          <p:cNvPr id="14" name="Text 12"/>
          <p:cNvSpPr txBox="1"/>
          <p:nvPr/>
        </p:nvSpPr>
        <p:spPr>
          <a:xfrm>
            <a:off x="7955280" y="5029200"/>
            <a:ext cx="457200" cy="457200"/>
          </a:xfrm>
          <a:prstGeom prst="rect">
            <a:avLst/>
          </a:prstGeom>
          <a:noFill/>
          <a:ln/>
        </p:spPr>
        <p:txBody>
          <a:bodyPr wrap="square" lIns="0" tIns="0" rIns="0" bIns="0" rtlCol="0" anchor="ctr"/>
          <a:lstStyle/>
          <a:p>
            <a:pPr algn="ctr" indent="0" marL="0">
              <a:buNone/>
            </a:pPr>
            <a:r>
              <a:rPr lang="en-US" sz="1400" b="1" dirty="0">
                <a:solidFill>
                  <a:srgbClr val="0F2942"/>
                </a:solidFill>
                <a:latin typeface="Cambria" pitchFamily="34" charset="0"/>
                <a:ea typeface="Cambria" pitchFamily="34" charset="-122"/>
                <a:cs typeface="Cambria" pitchFamily="34" charset="-120"/>
              </a:rPr>
              <a:t>✓</a:t>
            </a:r>
            <a:endParaRPr lang="en-US" sz="1400" dirty="0"/>
          </a:p>
        </p:txBody>
      </p:sp>
      <p:sp>
        <p:nvSpPr>
          <p:cNvPr id="15" name="Text 13"/>
          <p:cNvSpPr txBox="1"/>
          <p:nvPr/>
        </p:nvSpPr>
        <p:spPr>
          <a:xfrm>
            <a:off x="8577072" y="5047488"/>
            <a:ext cx="2834640" cy="27432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Keduanya</a:t>
            </a:r>
            <a:endParaRPr lang="en-US" sz="1500" dirty="0"/>
          </a:p>
        </p:txBody>
      </p:sp>
      <p:sp>
        <p:nvSpPr>
          <p:cNvPr id="16" name="Text 14"/>
          <p:cNvSpPr txBox="1"/>
          <p:nvPr/>
        </p:nvSpPr>
        <p:spPr>
          <a:xfrm>
            <a:off x="8577072" y="5358384"/>
            <a:ext cx="2834640" cy="731520"/>
          </a:xfrm>
          <a:prstGeom prst="rect">
            <a:avLst/>
          </a:prstGeom>
          <a:noFill/>
          <a:ln/>
        </p:spPr>
        <p:txBody>
          <a:bodyPr wrap="square" lIns="0" tIns="0" rIns="0" bIns="0" rtlCol="0" anchor="t"/>
          <a:lstStyle/>
          <a:p>
            <a:pPr indent="0" marL="0">
              <a:lnSpc>
                <a:spcPts val="1500"/>
              </a:lnSpc>
              <a:buNone/>
            </a:pPr>
            <a:r>
              <a:rPr lang="en-US" sz="1200" dirty="0">
                <a:solidFill>
                  <a:srgbClr val="7E9DB3"/>
                </a:solidFill>
                <a:latin typeface="Calibri" pitchFamily="34" charset="0"/>
                <a:ea typeface="Calibri" pitchFamily="34" charset="-122"/>
                <a:cs typeface="Calibri" pitchFamily="34" charset="-120"/>
              </a:rPr>
              <a:t>melihat bukti yang sama, pada waktu yang sama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CARA KERJA</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Tiga pintu, satu per satu</a:t>
            </a:r>
            <a:endParaRPr lang="en-US" sz="3400" dirty="0"/>
          </a:p>
        </p:txBody>
      </p:sp>
      <p:sp>
        <p:nvSpPr>
          <p:cNvPr id="4" name="Shape 2"/>
          <p:cNvSpPr/>
          <p:nvPr/>
        </p:nvSpPr>
        <p:spPr>
          <a:xfrm>
            <a:off x="640080" y="1463040"/>
            <a:ext cx="3474720" cy="3246120"/>
          </a:xfrm>
          <a:prstGeom prst="roundRect">
            <a:avLst>
              <a:gd name="adj" fmla="val 2254"/>
            </a:avLst>
          </a:prstGeom>
          <a:solidFill>
            <a:srgbClr val="F1F5F8"/>
          </a:solidFill>
          <a:ln/>
        </p:spPr>
      </p:sp>
      <p:sp>
        <p:nvSpPr>
          <p:cNvPr id="5" name="Shape 3"/>
          <p:cNvSpPr/>
          <p:nvPr/>
        </p:nvSpPr>
        <p:spPr>
          <a:xfrm>
            <a:off x="1005840" y="1783080"/>
            <a:ext cx="585216" cy="585216"/>
          </a:xfrm>
          <a:prstGeom prst="ellipse">
            <a:avLst/>
          </a:prstGeom>
          <a:solidFill>
            <a:srgbClr val="1C7293"/>
          </a:solidFill>
          <a:ln/>
        </p:spPr>
      </p:sp>
      <p:sp>
        <p:nvSpPr>
          <p:cNvPr id="6" name="Text 4"/>
          <p:cNvSpPr txBox="1"/>
          <p:nvPr/>
        </p:nvSpPr>
        <p:spPr>
          <a:xfrm>
            <a:off x="1005840" y="1783080"/>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005840" y="2560320"/>
            <a:ext cx="274320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Inspeksi</a:t>
            </a:r>
            <a:endParaRPr lang="en-US" sz="1900" dirty="0"/>
          </a:p>
        </p:txBody>
      </p:sp>
      <p:sp>
        <p:nvSpPr>
          <p:cNvPr id="8" name="Text 6"/>
          <p:cNvSpPr txBox="1"/>
          <p:nvPr/>
        </p:nvSpPr>
        <p:spPr>
          <a:xfrm>
            <a:off x="1005840" y="2962656"/>
            <a:ext cx="2743200" cy="256032"/>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Auditor Mutu</a:t>
            </a:r>
            <a:endParaRPr lang="en-US" sz="1100" dirty="0"/>
          </a:p>
        </p:txBody>
      </p:sp>
      <p:sp>
        <p:nvSpPr>
          <p:cNvPr id="9" name="Text 7"/>
          <p:cNvSpPr txBox="1"/>
          <p:nvPr/>
        </p:nvSpPr>
        <p:spPr>
          <a:xfrm>
            <a:off x="1005840" y="3310128"/>
            <a:ext cx="2743200" cy="914400"/>
          </a:xfrm>
          <a:prstGeom prst="rect">
            <a:avLst/>
          </a:prstGeom>
          <a:noFill/>
          <a:ln/>
        </p:spPr>
        <p:txBody>
          <a:bodyPr wrap="square" lIns="0" tIns="0" rIns="0" bIns="0" rtlCol="0" anchor="t"/>
          <a:lstStyle/>
          <a:p>
            <a:pPr indent="0" marL="0">
              <a:lnSpc>
                <a:spcPts val="2000"/>
              </a:lnSpc>
              <a:buNone/>
            </a:pPr>
            <a:r>
              <a:rPr lang="en-US" sz="1300" dirty="0">
                <a:solidFill>
                  <a:srgbClr val="5A6B78"/>
                </a:solidFill>
                <a:latin typeface="Calibri" pitchFamily="34" charset="0"/>
                <a:ea typeface="Calibri" pitchFamily="34" charset="-122"/>
                <a:cs typeface="Calibri" pitchFamily="34" charset="-120"/>
              </a:rPr>
              <a:t>Barang diperiksa dan berat kontainer dicocokkan sebelum masuk pelabuhan.</a:t>
            </a:r>
            <a:endParaRPr lang="en-US" sz="1300" dirty="0"/>
          </a:p>
        </p:txBody>
      </p:sp>
      <p:sp>
        <p:nvSpPr>
          <p:cNvPr id="10" name="Text 8"/>
          <p:cNvSpPr txBox="1"/>
          <p:nvPr/>
        </p:nvSpPr>
        <p:spPr>
          <a:xfrm>
            <a:off x="1005840" y="4279392"/>
            <a:ext cx="2743200" cy="274320"/>
          </a:xfrm>
          <a:prstGeom prst="rect">
            <a:avLst/>
          </a:prstGeom>
          <a:noFill/>
          <a:ln/>
        </p:spPr>
        <p:txBody>
          <a:bodyPr wrap="square" lIns="0" tIns="0" rIns="0" bIns="0" rtlCol="0" anchor="ctr"/>
          <a:lstStyle/>
          <a:p>
            <a:pPr indent="0" marL="0">
              <a:buNone/>
            </a:pPr>
            <a:r>
              <a:rPr lang="en-US" sz="1100" i="1" dirty="0">
                <a:solidFill>
                  <a:srgbClr val="8A9BA8"/>
                </a:solidFill>
                <a:latin typeface="Calibri" pitchFamily="34" charset="0"/>
                <a:ea typeface="Calibri" pitchFamily="34" charset="-122"/>
                <a:cs typeface="Calibri" pitchFamily="34" charset="-120"/>
              </a:rPr>
              <a:t>VGM · Laporan inspeksi</a:t>
            </a:r>
            <a:endParaRPr lang="en-US" sz="1100" dirty="0"/>
          </a:p>
        </p:txBody>
      </p:sp>
      <p:sp>
        <p:nvSpPr>
          <p:cNvPr id="11" name="Shape 9"/>
          <p:cNvSpPr/>
          <p:nvPr/>
        </p:nvSpPr>
        <p:spPr>
          <a:xfrm>
            <a:off x="4389120" y="1463040"/>
            <a:ext cx="3474720" cy="3246120"/>
          </a:xfrm>
          <a:prstGeom prst="roundRect">
            <a:avLst>
              <a:gd name="adj" fmla="val 2254"/>
            </a:avLst>
          </a:prstGeom>
          <a:solidFill>
            <a:srgbClr val="F1F5F8"/>
          </a:solidFill>
          <a:ln/>
        </p:spPr>
      </p:sp>
      <p:sp>
        <p:nvSpPr>
          <p:cNvPr id="12" name="Shape 10"/>
          <p:cNvSpPr/>
          <p:nvPr/>
        </p:nvSpPr>
        <p:spPr>
          <a:xfrm>
            <a:off x="4754880" y="1783080"/>
            <a:ext cx="585216" cy="585216"/>
          </a:xfrm>
          <a:prstGeom prst="ellipse">
            <a:avLst/>
          </a:prstGeom>
          <a:solidFill>
            <a:srgbClr val="1C7293"/>
          </a:solidFill>
          <a:ln/>
        </p:spPr>
      </p:sp>
      <p:sp>
        <p:nvSpPr>
          <p:cNvPr id="13" name="Text 11"/>
          <p:cNvSpPr txBox="1"/>
          <p:nvPr/>
        </p:nvSpPr>
        <p:spPr>
          <a:xfrm>
            <a:off x="4754880" y="1783080"/>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4754880" y="2560320"/>
            <a:ext cx="274320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Pengapalan</a:t>
            </a:r>
            <a:endParaRPr lang="en-US" sz="1900" dirty="0"/>
          </a:p>
        </p:txBody>
      </p:sp>
      <p:sp>
        <p:nvSpPr>
          <p:cNvPr id="15" name="Text 13"/>
          <p:cNvSpPr txBox="1"/>
          <p:nvPr/>
        </p:nvSpPr>
        <p:spPr>
          <a:xfrm>
            <a:off x="4754880" y="2962656"/>
            <a:ext cx="2743200" cy="256032"/>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Logistik</a:t>
            </a:r>
            <a:endParaRPr lang="en-US" sz="1100" dirty="0"/>
          </a:p>
        </p:txBody>
      </p:sp>
      <p:sp>
        <p:nvSpPr>
          <p:cNvPr id="16" name="Text 14"/>
          <p:cNvSpPr txBox="1"/>
          <p:nvPr/>
        </p:nvSpPr>
        <p:spPr>
          <a:xfrm>
            <a:off x="4754880" y="3310128"/>
            <a:ext cx="2743200" cy="914400"/>
          </a:xfrm>
          <a:prstGeom prst="rect">
            <a:avLst/>
          </a:prstGeom>
          <a:noFill/>
          <a:ln/>
        </p:spPr>
        <p:txBody>
          <a:bodyPr wrap="square" lIns="0" tIns="0" rIns="0" bIns="0" rtlCol="0" anchor="t"/>
          <a:lstStyle/>
          <a:p>
            <a:pPr indent="0" marL="0">
              <a:lnSpc>
                <a:spcPts val="2000"/>
              </a:lnSpc>
              <a:buNone/>
            </a:pPr>
            <a:r>
              <a:rPr lang="en-US" sz="1300" dirty="0">
                <a:solidFill>
                  <a:srgbClr val="5A6B78"/>
                </a:solidFill>
                <a:latin typeface="Calibri" pitchFamily="34" charset="0"/>
                <a:ea typeface="Calibri" pitchFamily="34" charset="-122"/>
                <a:cs typeface="Calibri" pitchFamily="34" charset="-120"/>
              </a:rPr>
              <a:t>Kapal benar-benar berangkat, terbaca dari sinyal navigasi kapal.</a:t>
            </a:r>
            <a:endParaRPr lang="en-US" sz="1300" dirty="0"/>
          </a:p>
        </p:txBody>
      </p:sp>
      <p:sp>
        <p:nvSpPr>
          <p:cNvPr id="17" name="Text 15"/>
          <p:cNvSpPr txBox="1"/>
          <p:nvPr/>
        </p:nvSpPr>
        <p:spPr>
          <a:xfrm>
            <a:off x="4754880" y="4279392"/>
            <a:ext cx="2743200" cy="274320"/>
          </a:xfrm>
          <a:prstGeom prst="rect">
            <a:avLst/>
          </a:prstGeom>
          <a:noFill/>
          <a:ln/>
        </p:spPr>
        <p:txBody>
          <a:bodyPr wrap="square" lIns="0" tIns="0" rIns="0" bIns="0" rtlCol="0" anchor="ctr"/>
          <a:lstStyle/>
          <a:p>
            <a:pPr indent="0" marL="0">
              <a:buNone/>
            </a:pPr>
            <a:r>
              <a:rPr lang="en-US" sz="1100" i="1" dirty="0">
                <a:solidFill>
                  <a:srgbClr val="8A9BA8"/>
                </a:solidFill>
                <a:latin typeface="Calibri" pitchFamily="34" charset="0"/>
                <a:ea typeface="Calibri" pitchFamily="34" charset="-122"/>
                <a:cs typeface="Calibri" pitchFamily="34" charset="-120"/>
              </a:rPr>
              <a:t>AIS · e-B/L di IPFS</a:t>
            </a:r>
            <a:endParaRPr lang="en-US" sz="1100" dirty="0"/>
          </a:p>
        </p:txBody>
      </p:sp>
      <p:sp>
        <p:nvSpPr>
          <p:cNvPr id="18" name="Shape 16"/>
          <p:cNvSpPr/>
          <p:nvPr/>
        </p:nvSpPr>
        <p:spPr>
          <a:xfrm>
            <a:off x="8138160" y="1463040"/>
            <a:ext cx="3474720" cy="3246120"/>
          </a:xfrm>
          <a:prstGeom prst="roundRect">
            <a:avLst>
              <a:gd name="adj" fmla="val 2254"/>
            </a:avLst>
          </a:prstGeom>
          <a:solidFill>
            <a:srgbClr val="F1F5F8"/>
          </a:solidFill>
          <a:ln/>
        </p:spPr>
      </p:sp>
      <p:sp>
        <p:nvSpPr>
          <p:cNvPr id="19" name="Shape 17"/>
          <p:cNvSpPr/>
          <p:nvPr/>
        </p:nvSpPr>
        <p:spPr>
          <a:xfrm>
            <a:off x="8503920" y="1783080"/>
            <a:ext cx="585216" cy="585216"/>
          </a:xfrm>
          <a:prstGeom prst="ellipse">
            <a:avLst/>
          </a:prstGeom>
          <a:solidFill>
            <a:srgbClr val="1C7293"/>
          </a:solidFill>
          <a:ln/>
        </p:spPr>
      </p:sp>
      <p:sp>
        <p:nvSpPr>
          <p:cNvPr id="20" name="Text 18"/>
          <p:cNvSpPr txBox="1"/>
          <p:nvPr/>
        </p:nvSpPr>
        <p:spPr>
          <a:xfrm>
            <a:off x="8503920" y="1783080"/>
            <a:ext cx="585216" cy="58521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Text 19"/>
          <p:cNvSpPr txBox="1"/>
          <p:nvPr/>
        </p:nvSpPr>
        <p:spPr>
          <a:xfrm>
            <a:off x="8503920" y="2560320"/>
            <a:ext cx="274320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Tiba &amp; Bea Cukai</a:t>
            </a:r>
            <a:endParaRPr lang="en-US" sz="1900" dirty="0"/>
          </a:p>
        </p:txBody>
      </p:sp>
      <p:sp>
        <p:nvSpPr>
          <p:cNvPr id="22" name="Text 20"/>
          <p:cNvSpPr txBox="1"/>
          <p:nvPr/>
        </p:nvSpPr>
        <p:spPr>
          <a:xfrm>
            <a:off x="8503920" y="2962656"/>
            <a:ext cx="2743200" cy="256032"/>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Kepabeanan</a:t>
            </a:r>
            <a:endParaRPr lang="en-US" sz="1100" dirty="0"/>
          </a:p>
        </p:txBody>
      </p:sp>
      <p:sp>
        <p:nvSpPr>
          <p:cNvPr id="23" name="Text 21"/>
          <p:cNvSpPr txBox="1"/>
          <p:nvPr/>
        </p:nvSpPr>
        <p:spPr>
          <a:xfrm>
            <a:off x="8503920" y="3310128"/>
            <a:ext cx="2743200" cy="914400"/>
          </a:xfrm>
          <a:prstGeom prst="rect">
            <a:avLst/>
          </a:prstGeom>
          <a:noFill/>
          <a:ln/>
        </p:spPr>
        <p:txBody>
          <a:bodyPr wrap="square" lIns="0" tIns="0" rIns="0" bIns="0" rtlCol="0" anchor="t"/>
          <a:lstStyle/>
          <a:p>
            <a:pPr indent="0" marL="0">
              <a:lnSpc>
                <a:spcPts val="2000"/>
              </a:lnSpc>
              <a:buNone/>
            </a:pPr>
            <a:r>
              <a:rPr lang="en-US" sz="1300" dirty="0">
                <a:solidFill>
                  <a:srgbClr val="5A6B78"/>
                </a:solidFill>
                <a:latin typeface="Calibri" pitchFamily="34" charset="0"/>
                <a:ea typeface="Calibri" pitchFamily="34" charset="-122"/>
                <a:cs typeface="Calibri" pitchFamily="34" charset="-120"/>
              </a:rPr>
              <a:t>Barang tiba dan memperoleh persetujuan kepabeanan di negara tujuan.</a:t>
            </a:r>
            <a:endParaRPr lang="en-US" sz="1300" dirty="0"/>
          </a:p>
        </p:txBody>
      </p:sp>
      <p:sp>
        <p:nvSpPr>
          <p:cNvPr id="24" name="Text 22"/>
          <p:cNvSpPr txBox="1"/>
          <p:nvPr/>
        </p:nvSpPr>
        <p:spPr>
          <a:xfrm>
            <a:off x="8503920" y="4279392"/>
            <a:ext cx="2743200" cy="274320"/>
          </a:xfrm>
          <a:prstGeom prst="rect">
            <a:avLst/>
          </a:prstGeom>
          <a:noFill/>
          <a:ln/>
        </p:spPr>
        <p:txBody>
          <a:bodyPr wrap="square" lIns="0" tIns="0" rIns="0" bIns="0" rtlCol="0" anchor="ctr"/>
          <a:lstStyle/>
          <a:p>
            <a:pPr indent="0" marL="0">
              <a:buNone/>
            </a:pPr>
            <a:r>
              <a:rPr lang="en-US" sz="1100" i="1" dirty="0">
                <a:solidFill>
                  <a:srgbClr val="8A9BA8"/>
                </a:solidFill>
                <a:latin typeface="Calibri" pitchFamily="34" charset="0"/>
                <a:ea typeface="Calibri" pitchFamily="34" charset="-122"/>
                <a:cs typeface="Calibri" pitchFamily="34" charset="-120"/>
              </a:rPr>
              <a:t>CEISA</a:t>
            </a:r>
            <a:endParaRPr lang="en-US" sz="1100" dirty="0"/>
          </a:p>
        </p:txBody>
      </p:sp>
      <p:sp>
        <p:nvSpPr>
          <p:cNvPr id="25" name="Shape 23"/>
          <p:cNvSpPr/>
          <p:nvPr/>
        </p:nvSpPr>
        <p:spPr>
          <a:xfrm>
            <a:off x="640080" y="5029200"/>
            <a:ext cx="10881360" cy="1143000"/>
          </a:xfrm>
          <a:prstGeom prst="roundRect">
            <a:avLst>
              <a:gd name="adj" fmla="val 6400"/>
            </a:avLst>
          </a:prstGeom>
          <a:solidFill>
            <a:srgbClr val="FFFFFF"/>
          </a:solidFill>
          <a:ln w="12700">
            <a:solidFill>
              <a:srgbClr val="D9E1E7"/>
            </a:solidFill>
            <a:prstDash val="solid"/>
          </a:ln>
        </p:spPr>
      </p:sp>
      <p:sp>
        <p:nvSpPr>
          <p:cNvPr id="26" name="Text 24"/>
          <p:cNvSpPr txBox="1"/>
          <p:nvPr/>
        </p:nvSpPr>
        <p:spPr>
          <a:xfrm>
            <a:off x="1005840" y="5230368"/>
            <a:ext cx="2743200" cy="320040"/>
          </a:xfrm>
          <a:prstGeom prst="rect">
            <a:avLst/>
          </a:prstGeom>
          <a:noFill/>
          <a:ln/>
        </p:spPr>
        <p:txBody>
          <a:bodyPr wrap="square" lIns="0" tIns="0" rIns="0" bIns="0" rtlCol="0" anchor="t"/>
          <a:lstStyle/>
          <a:p>
            <a:pPr indent="0" marL="0">
              <a:buNone/>
            </a:pPr>
            <a:r>
              <a:rPr lang="en-US" sz="1500" b="1" dirty="0">
                <a:solidFill>
                  <a:srgbClr val="0F2942"/>
                </a:solidFill>
                <a:latin typeface="Cambria" pitchFamily="34" charset="0"/>
                <a:ea typeface="Cambria" pitchFamily="34" charset="-122"/>
                <a:cs typeface="Cambria" pitchFamily="34" charset="-120"/>
              </a:rPr>
              <a:t>Kunci desainnya</a:t>
            </a:r>
            <a:endParaRPr lang="en-US" sz="1500" dirty="0"/>
          </a:p>
        </p:txBody>
      </p:sp>
      <p:sp>
        <p:nvSpPr>
          <p:cNvPr id="27" name="Text 25"/>
          <p:cNvSpPr txBox="1"/>
          <p:nvPr/>
        </p:nvSpPr>
        <p:spPr>
          <a:xfrm>
            <a:off x="3931920" y="5212080"/>
            <a:ext cx="7223760" cy="82296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Satu lembaga tidak bisa melepas dana sendirian. Untuk memalsukan pembayaran, tiga lembaga yang tidak saling berhubungan harus berbohong tentang tiga hal yang berbeda, pada saat yang sama.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ALUR STATUS</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Kontrak hanya mengenal jalur ini</a:t>
            </a:r>
            <a:endParaRPr lang="en-US" sz="3400" dirty="0"/>
          </a:p>
        </p:txBody>
      </p:sp>
      <p:sp>
        <p:nvSpPr>
          <p:cNvPr id="4" name="Shape 2"/>
          <p:cNvSpPr/>
          <p:nvPr/>
        </p:nvSpPr>
        <p:spPr>
          <a:xfrm>
            <a:off x="640080" y="1737360"/>
            <a:ext cx="1673352" cy="1051560"/>
          </a:xfrm>
          <a:prstGeom prst="roundRect">
            <a:avLst>
              <a:gd name="adj" fmla="val 6957"/>
            </a:avLst>
          </a:prstGeom>
          <a:solidFill>
            <a:srgbClr val="0F2942"/>
          </a:solidFill>
          <a:ln/>
        </p:spPr>
      </p:sp>
      <p:sp>
        <p:nvSpPr>
          <p:cNvPr id="5" name="Text 3"/>
          <p:cNvSpPr txBox="1"/>
          <p:nvPr/>
        </p:nvSpPr>
        <p:spPr>
          <a:xfrm>
            <a:off x="640080" y="1874520"/>
            <a:ext cx="16733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Dibuat</a:t>
            </a:r>
            <a:endParaRPr lang="en-US" sz="1400" dirty="0"/>
          </a:p>
        </p:txBody>
      </p:sp>
      <p:sp>
        <p:nvSpPr>
          <p:cNvPr id="6" name="Text 4"/>
          <p:cNvSpPr txBox="1"/>
          <p:nvPr/>
        </p:nvSpPr>
        <p:spPr>
          <a:xfrm>
            <a:off x="640080" y="2240280"/>
            <a:ext cx="1673352" cy="320040"/>
          </a:xfrm>
          <a:prstGeom prst="rect">
            <a:avLst/>
          </a:prstGeom>
          <a:noFill/>
          <a:ln/>
        </p:spPr>
        <p:txBody>
          <a:bodyPr wrap="square" lIns="0" tIns="0" rIns="0" bIns="0" rtlCol="0" anchor="ctr"/>
          <a:lstStyle/>
          <a:p>
            <a:pPr algn="ctr" indent="0" marL="0">
              <a:buNone/>
            </a:pPr>
            <a:r>
              <a:rPr lang="en-US" sz="1000" dirty="0">
                <a:solidFill>
                  <a:srgbClr val="92AEC2"/>
                </a:solidFill>
                <a:latin typeface="Calibri" pitchFamily="34" charset="0"/>
                <a:ea typeface="Calibri" pitchFamily="34" charset="-122"/>
                <a:cs typeface="Calibri" pitchFamily="34" charset="-120"/>
              </a:rPr>
              <a:t>dana terkunci</a:t>
            </a:r>
            <a:endParaRPr lang="en-US" sz="1000" dirty="0"/>
          </a:p>
        </p:txBody>
      </p:sp>
      <p:sp>
        <p:nvSpPr>
          <p:cNvPr id="7" name="Shape 5"/>
          <p:cNvSpPr/>
          <p:nvPr/>
        </p:nvSpPr>
        <p:spPr>
          <a:xfrm>
            <a:off x="2313432" y="2231136"/>
            <a:ext cx="173736" cy="45720"/>
          </a:xfrm>
          <a:prstGeom prst="rect">
            <a:avLst/>
          </a:prstGeom>
          <a:solidFill>
            <a:srgbClr val="B8C6D0"/>
          </a:solidFill>
          <a:ln/>
        </p:spPr>
      </p:sp>
      <p:sp>
        <p:nvSpPr>
          <p:cNvPr id="8" name="Shape 6"/>
          <p:cNvSpPr/>
          <p:nvPr/>
        </p:nvSpPr>
        <p:spPr>
          <a:xfrm>
            <a:off x="2487168" y="1737360"/>
            <a:ext cx="1673352" cy="1051560"/>
          </a:xfrm>
          <a:prstGeom prst="roundRect">
            <a:avLst>
              <a:gd name="adj" fmla="val 6957"/>
            </a:avLst>
          </a:prstGeom>
          <a:solidFill>
            <a:srgbClr val="0F2942"/>
          </a:solidFill>
          <a:ln/>
        </p:spPr>
      </p:sp>
      <p:sp>
        <p:nvSpPr>
          <p:cNvPr id="9" name="Text 7"/>
          <p:cNvSpPr txBox="1"/>
          <p:nvPr/>
        </p:nvSpPr>
        <p:spPr>
          <a:xfrm>
            <a:off x="2487168" y="1874520"/>
            <a:ext cx="16733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Diperiksa</a:t>
            </a:r>
            <a:endParaRPr lang="en-US" sz="1400" dirty="0"/>
          </a:p>
        </p:txBody>
      </p:sp>
      <p:sp>
        <p:nvSpPr>
          <p:cNvPr id="10" name="Text 8"/>
          <p:cNvSpPr txBox="1"/>
          <p:nvPr/>
        </p:nvSpPr>
        <p:spPr>
          <a:xfrm>
            <a:off x="2487168" y="2240280"/>
            <a:ext cx="1673352" cy="320040"/>
          </a:xfrm>
          <a:prstGeom prst="rect">
            <a:avLst/>
          </a:prstGeom>
          <a:noFill/>
          <a:ln/>
        </p:spPr>
        <p:txBody>
          <a:bodyPr wrap="square" lIns="0" tIns="0" rIns="0" bIns="0" rtlCol="0" anchor="ctr"/>
          <a:lstStyle/>
          <a:p>
            <a:pPr algn="ctr" indent="0" marL="0">
              <a:buNone/>
            </a:pPr>
            <a:r>
              <a:rPr lang="en-US" sz="1000" dirty="0">
                <a:solidFill>
                  <a:srgbClr val="92AEC2"/>
                </a:solidFill>
                <a:latin typeface="Calibri" pitchFamily="34" charset="0"/>
                <a:ea typeface="Calibri" pitchFamily="34" charset="-122"/>
                <a:cs typeface="Calibri" pitchFamily="34" charset="-120"/>
              </a:rPr>
              <a:t>milestone 1</a:t>
            </a:r>
            <a:endParaRPr lang="en-US" sz="1000" dirty="0"/>
          </a:p>
        </p:txBody>
      </p:sp>
      <p:sp>
        <p:nvSpPr>
          <p:cNvPr id="11" name="Shape 9"/>
          <p:cNvSpPr/>
          <p:nvPr/>
        </p:nvSpPr>
        <p:spPr>
          <a:xfrm>
            <a:off x="4160520" y="2231136"/>
            <a:ext cx="173736" cy="45720"/>
          </a:xfrm>
          <a:prstGeom prst="rect">
            <a:avLst/>
          </a:prstGeom>
          <a:solidFill>
            <a:srgbClr val="B8C6D0"/>
          </a:solidFill>
          <a:ln/>
        </p:spPr>
      </p:sp>
      <p:sp>
        <p:nvSpPr>
          <p:cNvPr id="12" name="Shape 10"/>
          <p:cNvSpPr/>
          <p:nvPr/>
        </p:nvSpPr>
        <p:spPr>
          <a:xfrm>
            <a:off x="4334256" y="1737360"/>
            <a:ext cx="1673352" cy="1051560"/>
          </a:xfrm>
          <a:prstGeom prst="roundRect">
            <a:avLst>
              <a:gd name="adj" fmla="val 6957"/>
            </a:avLst>
          </a:prstGeom>
          <a:solidFill>
            <a:srgbClr val="0F2942"/>
          </a:solidFill>
          <a:ln/>
        </p:spPr>
      </p:sp>
      <p:sp>
        <p:nvSpPr>
          <p:cNvPr id="13" name="Text 11"/>
          <p:cNvSpPr txBox="1"/>
          <p:nvPr/>
        </p:nvSpPr>
        <p:spPr>
          <a:xfrm>
            <a:off x="4334256" y="1874520"/>
            <a:ext cx="16733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Dikapalkan</a:t>
            </a:r>
            <a:endParaRPr lang="en-US" sz="1400" dirty="0"/>
          </a:p>
        </p:txBody>
      </p:sp>
      <p:sp>
        <p:nvSpPr>
          <p:cNvPr id="14" name="Text 12"/>
          <p:cNvSpPr txBox="1"/>
          <p:nvPr/>
        </p:nvSpPr>
        <p:spPr>
          <a:xfrm>
            <a:off x="4334256" y="2240280"/>
            <a:ext cx="1673352" cy="320040"/>
          </a:xfrm>
          <a:prstGeom prst="rect">
            <a:avLst/>
          </a:prstGeom>
          <a:noFill/>
          <a:ln/>
        </p:spPr>
        <p:txBody>
          <a:bodyPr wrap="square" lIns="0" tIns="0" rIns="0" bIns="0" rtlCol="0" anchor="ctr"/>
          <a:lstStyle/>
          <a:p>
            <a:pPr algn="ctr" indent="0" marL="0">
              <a:buNone/>
            </a:pPr>
            <a:r>
              <a:rPr lang="en-US" sz="1000" dirty="0">
                <a:solidFill>
                  <a:srgbClr val="92AEC2"/>
                </a:solidFill>
                <a:latin typeface="Calibri" pitchFamily="34" charset="0"/>
                <a:ea typeface="Calibri" pitchFamily="34" charset="-122"/>
                <a:cs typeface="Calibri" pitchFamily="34" charset="-120"/>
              </a:rPr>
              <a:t>milestone 2</a:t>
            </a:r>
            <a:endParaRPr lang="en-US" sz="1000" dirty="0"/>
          </a:p>
        </p:txBody>
      </p:sp>
      <p:sp>
        <p:nvSpPr>
          <p:cNvPr id="15" name="Shape 13"/>
          <p:cNvSpPr/>
          <p:nvPr/>
        </p:nvSpPr>
        <p:spPr>
          <a:xfrm>
            <a:off x="6007608" y="2231136"/>
            <a:ext cx="173736" cy="45720"/>
          </a:xfrm>
          <a:prstGeom prst="rect">
            <a:avLst/>
          </a:prstGeom>
          <a:solidFill>
            <a:srgbClr val="B8C6D0"/>
          </a:solidFill>
          <a:ln/>
        </p:spPr>
      </p:sp>
      <p:sp>
        <p:nvSpPr>
          <p:cNvPr id="16" name="Shape 14"/>
          <p:cNvSpPr/>
          <p:nvPr/>
        </p:nvSpPr>
        <p:spPr>
          <a:xfrm>
            <a:off x="6181344" y="1737360"/>
            <a:ext cx="1673352" cy="1051560"/>
          </a:xfrm>
          <a:prstGeom prst="roundRect">
            <a:avLst>
              <a:gd name="adj" fmla="val 6957"/>
            </a:avLst>
          </a:prstGeom>
          <a:solidFill>
            <a:srgbClr val="0F2942"/>
          </a:solidFill>
          <a:ln/>
        </p:spPr>
      </p:sp>
      <p:sp>
        <p:nvSpPr>
          <p:cNvPr id="17" name="Text 15"/>
          <p:cNvSpPr txBox="1"/>
          <p:nvPr/>
        </p:nvSpPr>
        <p:spPr>
          <a:xfrm>
            <a:off x="6181344" y="1874520"/>
            <a:ext cx="16733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Tiba</a:t>
            </a:r>
            <a:endParaRPr lang="en-US" sz="1400" dirty="0"/>
          </a:p>
        </p:txBody>
      </p:sp>
      <p:sp>
        <p:nvSpPr>
          <p:cNvPr id="18" name="Text 16"/>
          <p:cNvSpPr txBox="1"/>
          <p:nvPr/>
        </p:nvSpPr>
        <p:spPr>
          <a:xfrm>
            <a:off x="6181344" y="2240280"/>
            <a:ext cx="1673352" cy="320040"/>
          </a:xfrm>
          <a:prstGeom prst="rect">
            <a:avLst/>
          </a:prstGeom>
          <a:noFill/>
          <a:ln/>
        </p:spPr>
        <p:txBody>
          <a:bodyPr wrap="square" lIns="0" tIns="0" rIns="0" bIns="0" rtlCol="0" anchor="ctr"/>
          <a:lstStyle/>
          <a:p>
            <a:pPr algn="ctr" indent="0" marL="0">
              <a:buNone/>
            </a:pPr>
            <a:r>
              <a:rPr lang="en-US" sz="1000" dirty="0">
                <a:solidFill>
                  <a:srgbClr val="92AEC2"/>
                </a:solidFill>
                <a:latin typeface="Calibri" pitchFamily="34" charset="0"/>
                <a:ea typeface="Calibri" pitchFamily="34" charset="-122"/>
                <a:cs typeface="Calibri" pitchFamily="34" charset="-120"/>
              </a:rPr>
              <a:t>milestone 3</a:t>
            </a:r>
            <a:endParaRPr lang="en-US" sz="1000" dirty="0"/>
          </a:p>
        </p:txBody>
      </p:sp>
      <p:sp>
        <p:nvSpPr>
          <p:cNvPr id="19" name="Shape 17"/>
          <p:cNvSpPr/>
          <p:nvPr/>
        </p:nvSpPr>
        <p:spPr>
          <a:xfrm>
            <a:off x="7854696" y="2231136"/>
            <a:ext cx="173736" cy="45720"/>
          </a:xfrm>
          <a:prstGeom prst="rect">
            <a:avLst/>
          </a:prstGeom>
          <a:solidFill>
            <a:srgbClr val="B8C6D0"/>
          </a:solidFill>
          <a:ln/>
        </p:spPr>
      </p:sp>
      <p:sp>
        <p:nvSpPr>
          <p:cNvPr id="20" name="Shape 18"/>
          <p:cNvSpPr/>
          <p:nvPr/>
        </p:nvSpPr>
        <p:spPr>
          <a:xfrm>
            <a:off x="8028432" y="1737360"/>
            <a:ext cx="1673352" cy="1051560"/>
          </a:xfrm>
          <a:prstGeom prst="roundRect">
            <a:avLst>
              <a:gd name="adj" fmla="val 6957"/>
            </a:avLst>
          </a:prstGeom>
          <a:solidFill>
            <a:srgbClr val="0F2942"/>
          </a:solidFill>
          <a:ln/>
        </p:spPr>
      </p:sp>
      <p:sp>
        <p:nvSpPr>
          <p:cNvPr id="21" name="Text 19"/>
          <p:cNvSpPr txBox="1"/>
          <p:nvPr/>
        </p:nvSpPr>
        <p:spPr>
          <a:xfrm>
            <a:off x="8028432" y="1874520"/>
            <a:ext cx="16733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Timelock</a:t>
            </a:r>
            <a:endParaRPr lang="en-US" sz="1400" dirty="0"/>
          </a:p>
        </p:txBody>
      </p:sp>
      <p:sp>
        <p:nvSpPr>
          <p:cNvPr id="22" name="Text 20"/>
          <p:cNvSpPr txBox="1"/>
          <p:nvPr/>
        </p:nvSpPr>
        <p:spPr>
          <a:xfrm>
            <a:off x="8028432" y="2240280"/>
            <a:ext cx="1673352" cy="320040"/>
          </a:xfrm>
          <a:prstGeom prst="rect">
            <a:avLst/>
          </a:prstGeom>
          <a:noFill/>
          <a:ln/>
        </p:spPr>
        <p:txBody>
          <a:bodyPr wrap="square" lIns="0" tIns="0" rIns="0" bIns="0" rtlCol="0" anchor="ctr"/>
          <a:lstStyle/>
          <a:p>
            <a:pPr algn="ctr" indent="0" marL="0">
              <a:buNone/>
            </a:pPr>
            <a:r>
              <a:rPr lang="en-US" sz="1000" dirty="0">
                <a:solidFill>
                  <a:srgbClr val="92AEC2"/>
                </a:solidFill>
                <a:latin typeface="Calibri" pitchFamily="34" charset="0"/>
                <a:ea typeface="Calibri" pitchFamily="34" charset="-122"/>
                <a:cs typeface="Calibri" pitchFamily="34" charset="-120"/>
              </a:rPr>
              <a:t>24 jam</a:t>
            </a:r>
            <a:endParaRPr lang="en-US" sz="1000" dirty="0"/>
          </a:p>
        </p:txBody>
      </p:sp>
      <p:sp>
        <p:nvSpPr>
          <p:cNvPr id="23" name="Shape 21"/>
          <p:cNvSpPr/>
          <p:nvPr/>
        </p:nvSpPr>
        <p:spPr>
          <a:xfrm>
            <a:off x="9701784" y="2231136"/>
            <a:ext cx="173736" cy="45720"/>
          </a:xfrm>
          <a:prstGeom prst="rect">
            <a:avLst/>
          </a:prstGeom>
          <a:solidFill>
            <a:srgbClr val="B8C6D0"/>
          </a:solidFill>
          <a:ln/>
        </p:spPr>
      </p:sp>
      <p:sp>
        <p:nvSpPr>
          <p:cNvPr id="24" name="Shape 22"/>
          <p:cNvSpPr/>
          <p:nvPr/>
        </p:nvSpPr>
        <p:spPr>
          <a:xfrm>
            <a:off x="9875520" y="1737360"/>
            <a:ext cx="1673352" cy="1051560"/>
          </a:xfrm>
          <a:prstGeom prst="roundRect">
            <a:avLst>
              <a:gd name="adj" fmla="val 6957"/>
            </a:avLst>
          </a:prstGeom>
          <a:solidFill>
            <a:srgbClr val="2F7D5F"/>
          </a:solidFill>
          <a:ln/>
        </p:spPr>
      </p:sp>
      <p:sp>
        <p:nvSpPr>
          <p:cNvPr id="25" name="Text 23"/>
          <p:cNvSpPr txBox="1"/>
          <p:nvPr/>
        </p:nvSpPr>
        <p:spPr>
          <a:xfrm>
            <a:off x="9875520" y="1874520"/>
            <a:ext cx="1673352"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Selesai</a:t>
            </a:r>
            <a:endParaRPr lang="en-US" sz="1400" dirty="0"/>
          </a:p>
        </p:txBody>
      </p:sp>
      <p:sp>
        <p:nvSpPr>
          <p:cNvPr id="26" name="Text 24"/>
          <p:cNvSpPr txBox="1"/>
          <p:nvPr/>
        </p:nvSpPr>
        <p:spPr>
          <a:xfrm>
            <a:off x="9875520" y="2240280"/>
            <a:ext cx="1673352" cy="320040"/>
          </a:xfrm>
          <a:prstGeom prst="rect">
            <a:avLst/>
          </a:prstGeom>
          <a:noFill/>
          <a:ln/>
        </p:spPr>
        <p:txBody>
          <a:bodyPr wrap="square" lIns="0" tIns="0" rIns="0" bIns="0" rtlCol="0" anchor="ctr"/>
          <a:lstStyle/>
          <a:p>
            <a:pPr algn="ctr" indent="0" marL="0">
              <a:buNone/>
            </a:pPr>
            <a:r>
              <a:rPr lang="en-US" sz="1000" dirty="0">
                <a:solidFill>
                  <a:srgbClr val="CDE8DC"/>
                </a:solidFill>
                <a:latin typeface="Calibri" pitchFamily="34" charset="0"/>
                <a:ea typeface="Calibri" pitchFamily="34" charset="-122"/>
                <a:cs typeface="Calibri" pitchFamily="34" charset="-120"/>
              </a:rPr>
              <a:t>dana ke eksportir</a:t>
            </a:r>
            <a:endParaRPr lang="en-US" sz="1000" dirty="0"/>
          </a:p>
        </p:txBody>
      </p:sp>
      <p:sp>
        <p:nvSpPr>
          <p:cNvPr id="27" name="Shape 25"/>
          <p:cNvSpPr/>
          <p:nvPr/>
        </p:nvSpPr>
        <p:spPr>
          <a:xfrm>
            <a:off x="640080" y="3337560"/>
            <a:ext cx="5212080" cy="2148840"/>
          </a:xfrm>
          <a:prstGeom prst="roundRect">
            <a:avLst>
              <a:gd name="adj" fmla="val 3404"/>
            </a:avLst>
          </a:prstGeom>
          <a:solidFill>
            <a:srgbClr val="F1F5F8"/>
          </a:solidFill>
          <a:ln/>
        </p:spPr>
      </p:sp>
      <p:sp>
        <p:nvSpPr>
          <p:cNvPr id="28" name="Shape 26"/>
          <p:cNvSpPr/>
          <p:nvPr/>
        </p:nvSpPr>
        <p:spPr>
          <a:xfrm>
            <a:off x="1005840" y="3611880"/>
            <a:ext cx="457200" cy="457200"/>
          </a:xfrm>
          <a:prstGeom prst="ellipse">
            <a:avLst/>
          </a:prstGeom>
          <a:solidFill>
            <a:srgbClr val="E8A33D"/>
          </a:solidFill>
          <a:ln/>
        </p:spPr>
      </p:sp>
      <p:sp>
        <p:nvSpPr>
          <p:cNvPr id="29" name="Text 27"/>
          <p:cNvSpPr txBox="1"/>
          <p:nvPr/>
        </p:nvSpPr>
        <p:spPr>
          <a:xfrm>
            <a:off x="100584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30" name="Text 28"/>
          <p:cNvSpPr txBox="1"/>
          <p:nvPr/>
        </p:nvSpPr>
        <p:spPr>
          <a:xfrm>
            <a:off x="1600200" y="3675888"/>
            <a:ext cx="3840480" cy="365760"/>
          </a:xfrm>
          <a:prstGeom prst="rect">
            <a:avLst/>
          </a:prstGeom>
          <a:noFill/>
          <a:ln/>
        </p:spPr>
        <p:txBody>
          <a:bodyPr wrap="square" lIns="0" tIns="0" rIns="0" bIns="0" rtlCol="0" anchor="t"/>
          <a:lstStyle/>
          <a:p>
            <a:pPr indent="0" marL="0">
              <a:buNone/>
            </a:pPr>
            <a:r>
              <a:rPr lang="en-US" sz="1800" b="1" dirty="0">
                <a:solidFill>
                  <a:srgbClr val="0F2942"/>
                </a:solidFill>
                <a:latin typeface="Cambria" pitchFamily="34" charset="0"/>
                <a:ea typeface="Cambria" pitchFamily="34" charset="-122"/>
                <a:cs typeface="Cambria" pitchFamily="34" charset="-120"/>
              </a:rPr>
              <a:t>Disengketakan</a:t>
            </a:r>
            <a:endParaRPr lang="en-US" sz="1800" dirty="0"/>
          </a:p>
        </p:txBody>
      </p:sp>
      <p:sp>
        <p:nvSpPr>
          <p:cNvPr id="31" name="Text 29"/>
          <p:cNvSpPr txBox="1"/>
          <p:nvPr/>
        </p:nvSpPr>
        <p:spPr>
          <a:xfrm>
            <a:off x="1005840" y="4279392"/>
            <a:ext cx="4526280" cy="1097280"/>
          </a:xfrm>
          <a:prstGeom prst="rect">
            <a:avLst/>
          </a:prstGeom>
          <a:noFill/>
          <a:ln/>
        </p:spPr>
        <p:txBody>
          <a:bodyPr wrap="square" lIns="0" tIns="0" rIns="0" bIns="0" rtlCol="0" anchor="t"/>
          <a:lstStyle/>
          <a:p>
            <a:pPr indent="0" marL="0">
              <a:lnSpc>
                <a:spcPts val="1900"/>
              </a:lnSpc>
              <a:buNone/>
            </a:pPr>
            <a:r>
              <a:rPr lang="en-US" sz="1300" dirty="0">
                <a:solidFill>
                  <a:srgbClr val="5A6B78"/>
                </a:solidFill>
                <a:latin typeface="Calibri" pitchFamily="34" charset="0"/>
                <a:ea typeface="Calibri" pitchFamily="34" charset="-122"/>
                <a:cs typeface="Calibri" pitchFamily="34" charset="-120"/>
              </a:rPr>
              <a:t>Pihak mana pun boleh menyanggah dalam 6 jam sejak sebuah bukti masuk, dengan menaruh jaminan 3% dari nilai kontrak. Arbiter memutus, dan dana mengikuti putusan itu.</a:t>
            </a:r>
            <a:endParaRPr lang="en-US" sz="1300" dirty="0"/>
          </a:p>
        </p:txBody>
      </p:sp>
      <p:sp>
        <p:nvSpPr>
          <p:cNvPr id="32" name="Shape 30"/>
          <p:cNvSpPr/>
          <p:nvPr/>
        </p:nvSpPr>
        <p:spPr>
          <a:xfrm>
            <a:off x="6309360" y="3337560"/>
            <a:ext cx="5212080" cy="2148840"/>
          </a:xfrm>
          <a:prstGeom prst="roundRect">
            <a:avLst>
              <a:gd name="adj" fmla="val 3404"/>
            </a:avLst>
          </a:prstGeom>
          <a:solidFill>
            <a:srgbClr val="F1F5F8"/>
          </a:solidFill>
          <a:ln/>
        </p:spPr>
      </p:sp>
      <p:sp>
        <p:nvSpPr>
          <p:cNvPr id="33" name="Shape 31"/>
          <p:cNvSpPr/>
          <p:nvPr/>
        </p:nvSpPr>
        <p:spPr>
          <a:xfrm>
            <a:off x="6675120" y="3611880"/>
            <a:ext cx="457200" cy="457200"/>
          </a:xfrm>
          <a:prstGeom prst="ellipse">
            <a:avLst/>
          </a:prstGeom>
          <a:solidFill>
            <a:srgbClr val="B5462F"/>
          </a:solidFill>
          <a:ln/>
        </p:spPr>
      </p:sp>
      <p:sp>
        <p:nvSpPr>
          <p:cNvPr id="34" name="Text 32"/>
          <p:cNvSpPr txBox="1"/>
          <p:nvPr/>
        </p:nvSpPr>
        <p:spPr>
          <a:xfrm>
            <a:off x="667512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35" name="Text 33"/>
          <p:cNvSpPr txBox="1"/>
          <p:nvPr/>
        </p:nvSpPr>
        <p:spPr>
          <a:xfrm>
            <a:off x="7269480" y="3675888"/>
            <a:ext cx="3840480" cy="365760"/>
          </a:xfrm>
          <a:prstGeom prst="rect">
            <a:avLst/>
          </a:prstGeom>
          <a:noFill/>
          <a:ln/>
        </p:spPr>
        <p:txBody>
          <a:bodyPr wrap="square" lIns="0" tIns="0" rIns="0" bIns="0" rtlCol="0" anchor="t"/>
          <a:lstStyle/>
          <a:p>
            <a:pPr indent="0" marL="0">
              <a:buNone/>
            </a:pPr>
            <a:r>
              <a:rPr lang="en-US" sz="1800" b="1" dirty="0">
                <a:solidFill>
                  <a:srgbClr val="0F2942"/>
                </a:solidFill>
                <a:latin typeface="Cambria" pitchFamily="34" charset="0"/>
                <a:ea typeface="Cambria" pitchFamily="34" charset="-122"/>
                <a:cs typeface="Cambria" pitchFamily="34" charset="-120"/>
              </a:rPr>
              <a:t>Dikembalikan</a:t>
            </a:r>
            <a:endParaRPr lang="en-US" sz="1800" dirty="0"/>
          </a:p>
        </p:txBody>
      </p:sp>
      <p:sp>
        <p:nvSpPr>
          <p:cNvPr id="36" name="Text 34"/>
          <p:cNvSpPr txBox="1"/>
          <p:nvPr/>
        </p:nvSpPr>
        <p:spPr>
          <a:xfrm>
            <a:off x="6675120" y="4279392"/>
            <a:ext cx="4526280" cy="1097280"/>
          </a:xfrm>
          <a:prstGeom prst="rect">
            <a:avLst/>
          </a:prstGeom>
          <a:noFill/>
          <a:ln/>
        </p:spPr>
        <p:txBody>
          <a:bodyPr wrap="square" lIns="0" tIns="0" rIns="0" bIns="0" rtlCol="0" anchor="t"/>
          <a:lstStyle/>
          <a:p>
            <a:pPr indent="0" marL="0">
              <a:lnSpc>
                <a:spcPts val="1900"/>
              </a:lnSpc>
              <a:buNone/>
            </a:pPr>
            <a:r>
              <a:rPr lang="en-US" sz="1300" dirty="0">
                <a:solidFill>
                  <a:srgbClr val="5A6B78"/>
                </a:solidFill>
                <a:latin typeface="Calibri" pitchFamily="34" charset="0"/>
                <a:ea typeface="Calibri" pitchFamily="34" charset="-122"/>
                <a:cs typeface="Calibri" pitchFamily="34" charset="-120"/>
              </a:rPr>
              <a:t>Bila tenggat global lewat tanpa penyelesaian, importir menarik kembali dananya sendiri. Tidak perlu izin siapa pun — kontrak yang mengembalikannya.</a:t>
            </a:r>
            <a:endParaRPr lang="en-US" sz="1300" dirty="0"/>
          </a:p>
        </p:txBody>
      </p:sp>
      <p:sp>
        <p:nvSpPr>
          <p:cNvPr id="37" name="Text 35"/>
          <p:cNvSpPr txBox="1"/>
          <p:nvPr/>
        </p:nvSpPr>
        <p:spPr>
          <a:xfrm>
            <a:off x="640080" y="5715000"/>
            <a:ext cx="10881360" cy="411480"/>
          </a:xfrm>
          <a:prstGeom prst="rect">
            <a:avLst/>
          </a:prstGeom>
          <a:noFill/>
          <a:ln/>
        </p:spPr>
        <p:txBody>
          <a:bodyPr wrap="square" lIns="0" tIns="0" rIns="0" bIns="0" rtlCol="0" anchor="ctr"/>
          <a:lstStyle/>
          <a:p>
            <a:pPr indent="0" marL="0">
              <a:buNone/>
            </a:pPr>
            <a:r>
              <a:rPr lang="en-US" sz="1500" i="1" dirty="0">
                <a:solidFill>
                  <a:srgbClr val="0F2942"/>
                </a:solidFill>
                <a:latin typeface="Cambria" pitchFamily="34" charset="0"/>
                <a:ea typeface="Cambria" pitchFamily="34" charset="-122"/>
                <a:cs typeface="Cambria" pitchFamily="34" charset="-120"/>
              </a:rPr>
              <a:t>Jalur lain tidak ada. Tidak ada tombol darurat, tidak ada pengecualian administratif.</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TATA KELOLA</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Tiga peran terpisah, bukan satu wasit</a:t>
            </a:r>
            <a:endParaRPr lang="en-US" sz="3400" dirty="0"/>
          </a:p>
        </p:txBody>
      </p:sp>
      <p:sp>
        <p:nvSpPr>
          <p:cNvPr id="4" name="Shape 2"/>
          <p:cNvSpPr/>
          <p:nvPr/>
        </p:nvSpPr>
        <p:spPr>
          <a:xfrm>
            <a:off x="685800" y="1655064"/>
            <a:ext cx="658368" cy="658368"/>
          </a:xfrm>
          <a:prstGeom prst="ellipse">
            <a:avLst/>
          </a:prstGeom>
          <a:solidFill>
            <a:srgbClr val="1C7293"/>
          </a:solidFill>
          <a:ln/>
        </p:spPr>
      </p:sp>
      <p:sp>
        <p:nvSpPr>
          <p:cNvPr id="5" name="Text 3"/>
          <p:cNvSpPr txBox="1"/>
          <p:nvPr/>
        </p:nvSpPr>
        <p:spPr>
          <a:xfrm>
            <a:off x="685800" y="1655064"/>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6" name="Text 4"/>
          <p:cNvSpPr txBox="1"/>
          <p:nvPr/>
        </p:nvSpPr>
        <p:spPr>
          <a:xfrm>
            <a:off x="1600200" y="1618488"/>
            <a:ext cx="292608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Auditor Mutu</a:t>
            </a:r>
            <a:endParaRPr lang="en-US" sz="1900" dirty="0"/>
          </a:p>
        </p:txBody>
      </p:sp>
      <p:sp>
        <p:nvSpPr>
          <p:cNvPr id="7" name="Text 5"/>
          <p:cNvSpPr txBox="1"/>
          <p:nvPr/>
        </p:nvSpPr>
        <p:spPr>
          <a:xfrm>
            <a:off x="1600200" y="2020824"/>
            <a:ext cx="3108960" cy="274320"/>
          </a:xfrm>
          <a:prstGeom prst="rect">
            <a:avLst/>
          </a:prstGeom>
          <a:noFill/>
          <a:ln/>
        </p:spPr>
        <p:txBody>
          <a:bodyPr wrap="square" lIns="0" tIns="0" rIns="0" bIns="0" rtlCol="0" anchor="ctr"/>
          <a:lstStyle/>
          <a:p>
            <a:pPr indent="0" marL="0">
              <a:buNone/>
            </a:pPr>
            <a:r>
              <a:rPr lang="en-US" sz="1000" dirty="0">
                <a:solidFill>
                  <a:srgbClr val="8A9BA8"/>
                </a:solidFill>
                <a:latin typeface="Courier New" pitchFamily="34" charset="0"/>
                <a:ea typeface="Courier New" pitchFamily="34" charset="-122"/>
                <a:cs typeface="Courier New" pitchFamily="34" charset="-120"/>
              </a:rPr>
              <a:t>ROLE_QUALITY_AUDITOR</a:t>
            </a:r>
            <a:endParaRPr lang="en-US" sz="1000" dirty="0"/>
          </a:p>
        </p:txBody>
      </p:sp>
      <p:sp>
        <p:nvSpPr>
          <p:cNvPr id="8" name="Text 6"/>
          <p:cNvSpPr txBox="1"/>
          <p:nvPr/>
        </p:nvSpPr>
        <p:spPr>
          <a:xfrm>
            <a:off x="4937760" y="1655064"/>
            <a:ext cx="6583680" cy="777240"/>
          </a:xfrm>
          <a:prstGeom prst="rect">
            <a:avLst/>
          </a:prstGeom>
          <a:noFill/>
          <a:ln/>
        </p:spPr>
        <p:txBody>
          <a:bodyPr wrap="square" lIns="0" tIns="0" rIns="0" bIns="0" rtlCol="0" anchor="t"/>
          <a:lstStyle/>
          <a:p>
            <a:pPr indent="0" marL="0">
              <a:lnSpc>
                <a:spcPts val="2000"/>
              </a:lnSpc>
              <a:buNone/>
            </a:pPr>
            <a:r>
              <a:rPr lang="en-US" sz="1400" dirty="0">
                <a:solidFill>
                  <a:srgbClr val="5A6B78"/>
                </a:solidFill>
                <a:latin typeface="Calibri" pitchFamily="34" charset="0"/>
                <a:ea typeface="Calibri" pitchFamily="34" charset="-122"/>
                <a:cs typeface="Calibri" pitchFamily="34" charset="-120"/>
              </a:rPr>
              <a:t>Menyatakan barangnya benar: mutu lolos, berat kontainer cocok, dokumen asli.</a:t>
            </a:r>
            <a:endParaRPr lang="en-US" sz="1400" dirty="0"/>
          </a:p>
        </p:txBody>
      </p:sp>
      <p:sp>
        <p:nvSpPr>
          <p:cNvPr id="9" name="Shape 7"/>
          <p:cNvSpPr/>
          <p:nvPr/>
        </p:nvSpPr>
        <p:spPr>
          <a:xfrm>
            <a:off x="1600200" y="2478024"/>
            <a:ext cx="9921240" cy="9144"/>
          </a:xfrm>
          <a:prstGeom prst="rect">
            <a:avLst/>
          </a:prstGeom>
          <a:solidFill>
            <a:srgbClr val="D9E1E7"/>
          </a:solidFill>
          <a:ln/>
        </p:spPr>
      </p:sp>
      <p:sp>
        <p:nvSpPr>
          <p:cNvPr id="10" name="Shape 8"/>
          <p:cNvSpPr/>
          <p:nvPr/>
        </p:nvSpPr>
        <p:spPr>
          <a:xfrm>
            <a:off x="685800" y="2825496"/>
            <a:ext cx="658368" cy="658368"/>
          </a:xfrm>
          <a:prstGeom prst="ellipse">
            <a:avLst/>
          </a:prstGeom>
          <a:solidFill>
            <a:srgbClr val="2E93B5"/>
          </a:solidFill>
          <a:ln/>
        </p:spPr>
      </p:sp>
      <p:sp>
        <p:nvSpPr>
          <p:cNvPr id="11" name="Text 9"/>
          <p:cNvSpPr txBox="1"/>
          <p:nvPr/>
        </p:nvSpPr>
        <p:spPr>
          <a:xfrm>
            <a:off x="685800" y="2825496"/>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
            </a:r>
            <a:endParaRPr lang="en-US" sz="2000" dirty="0"/>
          </a:p>
        </p:txBody>
      </p:sp>
      <p:sp>
        <p:nvSpPr>
          <p:cNvPr id="12" name="Text 10"/>
          <p:cNvSpPr txBox="1"/>
          <p:nvPr/>
        </p:nvSpPr>
        <p:spPr>
          <a:xfrm>
            <a:off x="1600200" y="2788920"/>
            <a:ext cx="292608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Logistik</a:t>
            </a:r>
            <a:endParaRPr lang="en-US" sz="1900" dirty="0"/>
          </a:p>
        </p:txBody>
      </p:sp>
      <p:sp>
        <p:nvSpPr>
          <p:cNvPr id="13" name="Text 11"/>
          <p:cNvSpPr txBox="1"/>
          <p:nvPr/>
        </p:nvSpPr>
        <p:spPr>
          <a:xfrm>
            <a:off x="1600200" y="3191256"/>
            <a:ext cx="3108960" cy="274320"/>
          </a:xfrm>
          <a:prstGeom prst="rect">
            <a:avLst/>
          </a:prstGeom>
          <a:noFill/>
          <a:ln/>
        </p:spPr>
        <p:txBody>
          <a:bodyPr wrap="square" lIns="0" tIns="0" rIns="0" bIns="0" rtlCol="0" anchor="ctr"/>
          <a:lstStyle/>
          <a:p>
            <a:pPr indent="0" marL="0">
              <a:buNone/>
            </a:pPr>
            <a:r>
              <a:rPr lang="en-US" sz="1000" dirty="0">
                <a:solidFill>
                  <a:srgbClr val="8A9BA8"/>
                </a:solidFill>
                <a:latin typeface="Courier New" pitchFamily="34" charset="0"/>
                <a:ea typeface="Courier New" pitchFamily="34" charset="-122"/>
                <a:cs typeface="Courier New" pitchFamily="34" charset="-120"/>
              </a:rPr>
              <a:t>ROLE_LOGISTICS</a:t>
            </a:r>
            <a:endParaRPr lang="en-US" sz="1000" dirty="0"/>
          </a:p>
        </p:txBody>
      </p:sp>
      <p:sp>
        <p:nvSpPr>
          <p:cNvPr id="14" name="Text 12"/>
          <p:cNvSpPr txBox="1"/>
          <p:nvPr/>
        </p:nvSpPr>
        <p:spPr>
          <a:xfrm>
            <a:off x="4937760" y="2825496"/>
            <a:ext cx="6583680" cy="777240"/>
          </a:xfrm>
          <a:prstGeom prst="rect">
            <a:avLst/>
          </a:prstGeom>
          <a:noFill/>
          <a:ln/>
        </p:spPr>
        <p:txBody>
          <a:bodyPr wrap="square" lIns="0" tIns="0" rIns="0" bIns="0" rtlCol="0" anchor="t"/>
          <a:lstStyle/>
          <a:p>
            <a:pPr indent="0" marL="0">
              <a:lnSpc>
                <a:spcPts val="2000"/>
              </a:lnSpc>
              <a:buNone/>
            </a:pPr>
            <a:r>
              <a:rPr lang="en-US" sz="1400" dirty="0">
                <a:solidFill>
                  <a:srgbClr val="5A6B78"/>
                </a:solidFill>
                <a:latin typeface="Calibri" pitchFamily="34" charset="0"/>
                <a:ea typeface="Calibri" pitchFamily="34" charset="-122"/>
                <a:cs typeface="Calibri" pitchFamily="34" charset="-120"/>
              </a:rPr>
              <a:t>Menyatakan barangnya berangkat: kapal terdeteksi keluar pelabuhan muat.</a:t>
            </a:r>
            <a:endParaRPr lang="en-US" sz="1400" dirty="0"/>
          </a:p>
        </p:txBody>
      </p:sp>
      <p:sp>
        <p:nvSpPr>
          <p:cNvPr id="15" name="Shape 13"/>
          <p:cNvSpPr/>
          <p:nvPr/>
        </p:nvSpPr>
        <p:spPr>
          <a:xfrm>
            <a:off x="1600200" y="3648456"/>
            <a:ext cx="9921240" cy="9144"/>
          </a:xfrm>
          <a:prstGeom prst="rect">
            <a:avLst/>
          </a:prstGeom>
          <a:solidFill>
            <a:srgbClr val="D9E1E7"/>
          </a:solidFill>
          <a:ln/>
        </p:spPr>
      </p:sp>
      <p:sp>
        <p:nvSpPr>
          <p:cNvPr id="16" name="Shape 14"/>
          <p:cNvSpPr/>
          <p:nvPr/>
        </p:nvSpPr>
        <p:spPr>
          <a:xfrm>
            <a:off x="685800" y="3995928"/>
            <a:ext cx="658368" cy="658368"/>
          </a:xfrm>
          <a:prstGeom prst="ellipse">
            <a:avLst/>
          </a:prstGeom>
          <a:solidFill>
            <a:srgbClr val="1B3E5C"/>
          </a:solidFill>
          <a:ln/>
        </p:spPr>
      </p:sp>
      <p:sp>
        <p:nvSpPr>
          <p:cNvPr id="17" name="Text 15"/>
          <p:cNvSpPr txBox="1"/>
          <p:nvPr/>
        </p:nvSpPr>
        <p:spPr>
          <a:xfrm>
            <a:off x="685800" y="3995928"/>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8" name="Text 16"/>
          <p:cNvSpPr txBox="1"/>
          <p:nvPr/>
        </p:nvSpPr>
        <p:spPr>
          <a:xfrm>
            <a:off x="1600200" y="3959352"/>
            <a:ext cx="292608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Kepabeanan</a:t>
            </a:r>
            <a:endParaRPr lang="en-US" sz="1900" dirty="0"/>
          </a:p>
        </p:txBody>
      </p:sp>
      <p:sp>
        <p:nvSpPr>
          <p:cNvPr id="19" name="Text 17"/>
          <p:cNvSpPr txBox="1"/>
          <p:nvPr/>
        </p:nvSpPr>
        <p:spPr>
          <a:xfrm>
            <a:off x="1600200" y="4361688"/>
            <a:ext cx="3108960" cy="274320"/>
          </a:xfrm>
          <a:prstGeom prst="rect">
            <a:avLst/>
          </a:prstGeom>
          <a:noFill/>
          <a:ln/>
        </p:spPr>
        <p:txBody>
          <a:bodyPr wrap="square" lIns="0" tIns="0" rIns="0" bIns="0" rtlCol="0" anchor="ctr"/>
          <a:lstStyle/>
          <a:p>
            <a:pPr indent="0" marL="0">
              <a:buNone/>
            </a:pPr>
            <a:r>
              <a:rPr lang="en-US" sz="1000" dirty="0">
                <a:solidFill>
                  <a:srgbClr val="8A9BA8"/>
                </a:solidFill>
                <a:latin typeface="Courier New" pitchFamily="34" charset="0"/>
                <a:ea typeface="Courier New" pitchFamily="34" charset="-122"/>
                <a:cs typeface="Courier New" pitchFamily="34" charset="-120"/>
              </a:rPr>
              <a:t>ROLE_CUSTOMS</a:t>
            </a:r>
            <a:endParaRPr lang="en-US" sz="1000" dirty="0"/>
          </a:p>
        </p:txBody>
      </p:sp>
      <p:sp>
        <p:nvSpPr>
          <p:cNvPr id="20" name="Text 18"/>
          <p:cNvSpPr txBox="1"/>
          <p:nvPr/>
        </p:nvSpPr>
        <p:spPr>
          <a:xfrm>
            <a:off x="4937760" y="3995928"/>
            <a:ext cx="6583680" cy="777240"/>
          </a:xfrm>
          <a:prstGeom prst="rect">
            <a:avLst/>
          </a:prstGeom>
          <a:noFill/>
          <a:ln/>
        </p:spPr>
        <p:txBody>
          <a:bodyPr wrap="square" lIns="0" tIns="0" rIns="0" bIns="0" rtlCol="0" anchor="t"/>
          <a:lstStyle/>
          <a:p>
            <a:pPr indent="0" marL="0">
              <a:lnSpc>
                <a:spcPts val="2000"/>
              </a:lnSpc>
              <a:buNone/>
            </a:pPr>
            <a:r>
              <a:rPr lang="en-US" sz="1400" dirty="0">
                <a:solidFill>
                  <a:srgbClr val="5A6B78"/>
                </a:solidFill>
                <a:latin typeface="Calibri" pitchFamily="34" charset="0"/>
                <a:ea typeface="Calibri" pitchFamily="34" charset="-122"/>
                <a:cs typeface="Calibri" pitchFamily="34" charset="-120"/>
              </a:rPr>
              <a:t>Menyatakan barangnya masuk: bea cukai negara tujuan memberi persetujuan.</a:t>
            </a:r>
            <a:endParaRPr lang="en-US" sz="1400" dirty="0"/>
          </a:p>
        </p:txBody>
      </p:sp>
      <p:sp>
        <p:nvSpPr>
          <p:cNvPr id="21" name="Shape 19"/>
          <p:cNvSpPr/>
          <p:nvPr/>
        </p:nvSpPr>
        <p:spPr>
          <a:xfrm>
            <a:off x="640080" y="5120640"/>
            <a:ext cx="10881360" cy="1051560"/>
          </a:xfrm>
          <a:prstGeom prst="roundRect">
            <a:avLst>
              <a:gd name="adj" fmla="val 6957"/>
            </a:avLst>
          </a:prstGeom>
          <a:solidFill>
            <a:srgbClr val="0F2942"/>
          </a:solidFill>
          <a:ln/>
        </p:spPr>
      </p:sp>
      <p:sp>
        <p:nvSpPr>
          <p:cNvPr id="22" name="Text 20"/>
          <p:cNvSpPr txBox="1"/>
          <p:nvPr/>
        </p:nvSpPr>
        <p:spPr>
          <a:xfrm>
            <a:off x="1051560" y="5330952"/>
            <a:ext cx="10058400" cy="685800"/>
          </a:xfrm>
          <a:prstGeom prst="rect">
            <a:avLst/>
          </a:prstGeom>
          <a:noFill/>
          <a:ln/>
        </p:spPr>
        <p:txBody>
          <a:bodyPr wrap="square" lIns="0" tIns="0" rIns="0" bIns="0" rtlCol="0" anchor="t"/>
          <a:lstStyle/>
          <a:p>
            <a:pPr indent="0" marL="0">
              <a:lnSpc>
                <a:spcPts val="1900"/>
              </a:lnSpc>
              <a:buNone/>
            </a:pPr>
            <a:r>
              <a:rPr lang="en-US" sz="1400" dirty="0">
                <a:solidFill>
                  <a:srgbClr val="BBD3E2"/>
                </a:solidFill>
                <a:latin typeface="Calibri" pitchFamily="34" charset="0"/>
                <a:ea typeface="Calibri" pitchFamily="34" charset="-122"/>
                <a:cs typeface="Calibri" pitchFamily="34" charset="-120"/>
              </a:rPr>
              <a:t>Ini bukan multi-faktor. Ini pemisahan wewenang: tiga lembaga menyatakan tiga fakta berbeda, dan tidak ada satu pun yang bisa menyatakan fakta milik yang lain.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BUKTI</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Data yang dibaca sebelum dana bergerak</a:t>
            </a:r>
            <a:endParaRPr lang="en-US" sz="3400" dirty="0"/>
          </a:p>
        </p:txBody>
      </p:sp>
      <p:sp>
        <p:nvSpPr>
          <p:cNvPr id="4" name="Shape 2"/>
          <p:cNvSpPr/>
          <p:nvPr/>
        </p:nvSpPr>
        <p:spPr>
          <a:xfrm>
            <a:off x="640080" y="1463040"/>
            <a:ext cx="3474720" cy="1645920"/>
          </a:xfrm>
          <a:prstGeom prst="roundRect">
            <a:avLst>
              <a:gd name="adj" fmla="val 4444"/>
            </a:avLst>
          </a:prstGeom>
          <a:solidFill>
            <a:srgbClr val="FFFFFF"/>
          </a:solidFill>
          <a:ln w="12700">
            <a:solidFill>
              <a:srgbClr val="D9E1E7"/>
            </a:solidFill>
            <a:prstDash val="solid"/>
          </a:ln>
        </p:spPr>
      </p:sp>
      <p:sp>
        <p:nvSpPr>
          <p:cNvPr id="5" name="Text 3"/>
          <p:cNvSpPr txBox="1"/>
          <p:nvPr/>
        </p:nvSpPr>
        <p:spPr>
          <a:xfrm>
            <a:off x="960120" y="1691640"/>
            <a:ext cx="2834640" cy="320040"/>
          </a:xfrm>
          <a:prstGeom prst="rect">
            <a:avLst/>
          </a:prstGeom>
          <a:noFill/>
          <a:ln/>
        </p:spPr>
        <p:txBody>
          <a:bodyPr wrap="square" lIns="0" tIns="0" rIns="0" bIns="0" rtlCol="0" anchor="t"/>
          <a:lstStyle/>
          <a:p>
            <a:pPr indent="0" marL="0">
              <a:buNone/>
            </a:pPr>
            <a:r>
              <a:rPr lang="en-US" sz="1700" b="1" dirty="0">
                <a:solidFill>
                  <a:srgbClr val="0F2942"/>
                </a:solidFill>
                <a:latin typeface="Cambria" pitchFamily="34" charset="0"/>
                <a:ea typeface="Cambria" pitchFamily="34" charset="-122"/>
                <a:cs typeface="Cambria" pitchFamily="34" charset="-120"/>
              </a:rPr>
              <a:t>VGM</a:t>
            </a:r>
            <a:endParaRPr lang="en-US" sz="1700" dirty="0"/>
          </a:p>
        </p:txBody>
      </p:sp>
      <p:sp>
        <p:nvSpPr>
          <p:cNvPr id="6" name="Text 4"/>
          <p:cNvSpPr txBox="1"/>
          <p:nvPr/>
        </p:nvSpPr>
        <p:spPr>
          <a:xfrm>
            <a:off x="960120" y="2039112"/>
            <a:ext cx="2834640" cy="237744"/>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Auditor Mutu</a:t>
            </a:r>
            <a:endParaRPr lang="en-US" sz="1000" dirty="0"/>
          </a:p>
        </p:txBody>
      </p:sp>
      <p:sp>
        <p:nvSpPr>
          <p:cNvPr id="7" name="Text 5"/>
          <p:cNvSpPr txBox="1"/>
          <p:nvPr/>
        </p:nvSpPr>
        <p:spPr>
          <a:xfrm>
            <a:off x="960120" y="2331720"/>
            <a:ext cx="2834640" cy="685800"/>
          </a:xfrm>
          <a:prstGeom prst="rect">
            <a:avLst/>
          </a:prstGeom>
          <a:noFill/>
          <a:ln/>
        </p:spPr>
        <p:txBody>
          <a:bodyPr wrap="square" lIns="0" tIns="0" rIns="0" bIns="0" rtlCol="0" anchor="t"/>
          <a:lstStyle/>
          <a:p>
            <a:pPr indent="0" marL="0">
              <a:lnSpc>
                <a:spcPts val="1600"/>
              </a:lnSpc>
              <a:buNone/>
            </a:pPr>
            <a:r>
              <a:rPr lang="en-US" sz="1200" dirty="0">
                <a:solidFill>
                  <a:srgbClr val="5A6B78"/>
                </a:solidFill>
                <a:latin typeface="Calibri" pitchFamily="34" charset="0"/>
                <a:ea typeface="Calibri" pitchFamily="34" charset="-122"/>
                <a:cs typeface="Calibri" pitchFamily="34" charset="-120"/>
              </a:rPr>
              <a:t>Verified Gross Mass — berat kontainer terverifikasi di gerbang pelabuhan.</a:t>
            </a:r>
            <a:endParaRPr lang="en-US" sz="1200" dirty="0"/>
          </a:p>
        </p:txBody>
      </p:sp>
      <p:sp>
        <p:nvSpPr>
          <p:cNvPr id="8" name="Shape 6"/>
          <p:cNvSpPr/>
          <p:nvPr/>
        </p:nvSpPr>
        <p:spPr>
          <a:xfrm>
            <a:off x="4389120" y="1463040"/>
            <a:ext cx="3474720" cy="1645920"/>
          </a:xfrm>
          <a:prstGeom prst="roundRect">
            <a:avLst>
              <a:gd name="adj" fmla="val 4444"/>
            </a:avLst>
          </a:prstGeom>
          <a:solidFill>
            <a:srgbClr val="FFFFFF"/>
          </a:solidFill>
          <a:ln w="12700">
            <a:solidFill>
              <a:srgbClr val="D9E1E7"/>
            </a:solidFill>
            <a:prstDash val="solid"/>
          </a:ln>
        </p:spPr>
      </p:sp>
      <p:sp>
        <p:nvSpPr>
          <p:cNvPr id="9" name="Text 7"/>
          <p:cNvSpPr txBox="1"/>
          <p:nvPr/>
        </p:nvSpPr>
        <p:spPr>
          <a:xfrm>
            <a:off x="4709160" y="1691640"/>
            <a:ext cx="2834640" cy="320040"/>
          </a:xfrm>
          <a:prstGeom prst="rect">
            <a:avLst/>
          </a:prstGeom>
          <a:noFill/>
          <a:ln/>
        </p:spPr>
        <p:txBody>
          <a:bodyPr wrap="square" lIns="0" tIns="0" rIns="0" bIns="0" rtlCol="0" anchor="t"/>
          <a:lstStyle/>
          <a:p>
            <a:pPr indent="0" marL="0">
              <a:buNone/>
            </a:pPr>
            <a:r>
              <a:rPr lang="en-US" sz="1700" b="1" dirty="0">
                <a:solidFill>
                  <a:srgbClr val="0F2942"/>
                </a:solidFill>
                <a:latin typeface="Cambria" pitchFamily="34" charset="0"/>
                <a:ea typeface="Cambria" pitchFamily="34" charset="-122"/>
                <a:cs typeface="Cambria" pitchFamily="34" charset="-120"/>
              </a:rPr>
              <a:t>Laporan Inspeksi</a:t>
            </a:r>
            <a:endParaRPr lang="en-US" sz="1700" dirty="0"/>
          </a:p>
        </p:txBody>
      </p:sp>
      <p:sp>
        <p:nvSpPr>
          <p:cNvPr id="10" name="Text 8"/>
          <p:cNvSpPr txBox="1"/>
          <p:nvPr/>
        </p:nvSpPr>
        <p:spPr>
          <a:xfrm>
            <a:off x="4709160" y="2039112"/>
            <a:ext cx="2834640" cy="237744"/>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Auditor Mutu</a:t>
            </a:r>
            <a:endParaRPr lang="en-US" sz="1000" dirty="0"/>
          </a:p>
        </p:txBody>
      </p:sp>
      <p:sp>
        <p:nvSpPr>
          <p:cNvPr id="11" name="Text 9"/>
          <p:cNvSpPr txBox="1"/>
          <p:nvPr/>
        </p:nvSpPr>
        <p:spPr>
          <a:xfrm>
            <a:off x="4709160" y="2331720"/>
            <a:ext cx="2834640" cy="685800"/>
          </a:xfrm>
          <a:prstGeom prst="rect">
            <a:avLst/>
          </a:prstGeom>
          <a:noFill/>
          <a:ln/>
        </p:spPr>
        <p:txBody>
          <a:bodyPr wrap="square" lIns="0" tIns="0" rIns="0" bIns="0" rtlCol="0" anchor="t"/>
          <a:lstStyle/>
          <a:p>
            <a:pPr indent="0" marL="0">
              <a:lnSpc>
                <a:spcPts val="1600"/>
              </a:lnSpc>
              <a:buNone/>
            </a:pPr>
            <a:r>
              <a:rPr lang="en-US" sz="1200" dirty="0">
                <a:solidFill>
                  <a:srgbClr val="5A6B78"/>
                </a:solidFill>
                <a:latin typeface="Calibri" pitchFamily="34" charset="0"/>
                <a:ea typeface="Calibri" pitchFamily="34" charset="-122"/>
                <a:cs typeface="Calibri" pitchFamily="34" charset="-120"/>
              </a:rPr>
              <a:t>Hasil pemeriksaan mutu komoditas oleh surveyor independen.</a:t>
            </a:r>
            <a:endParaRPr lang="en-US" sz="1200" dirty="0"/>
          </a:p>
        </p:txBody>
      </p:sp>
      <p:sp>
        <p:nvSpPr>
          <p:cNvPr id="12" name="Shape 10"/>
          <p:cNvSpPr/>
          <p:nvPr/>
        </p:nvSpPr>
        <p:spPr>
          <a:xfrm>
            <a:off x="8138160" y="1463040"/>
            <a:ext cx="3474720" cy="1645920"/>
          </a:xfrm>
          <a:prstGeom prst="roundRect">
            <a:avLst>
              <a:gd name="adj" fmla="val 4444"/>
            </a:avLst>
          </a:prstGeom>
          <a:solidFill>
            <a:srgbClr val="FFFFFF"/>
          </a:solidFill>
          <a:ln w="12700">
            <a:solidFill>
              <a:srgbClr val="D9E1E7"/>
            </a:solidFill>
            <a:prstDash val="solid"/>
          </a:ln>
        </p:spPr>
      </p:sp>
      <p:sp>
        <p:nvSpPr>
          <p:cNvPr id="13" name="Text 11"/>
          <p:cNvSpPr txBox="1"/>
          <p:nvPr/>
        </p:nvSpPr>
        <p:spPr>
          <a:xfrm>
            <a:off x="8458200" y="1691640"/>
            <a:ext cx="2834640" cy="320040"/>
          </a:xfrm>
          <a:prstGeom prst="rect">
            <a:avLst/>
          </a:prstGeom>
          <a:noFill/>
          <a:ln/>
        </p:spPr>
        <p:txBody>
          <a:bodyPr wrap="square" lIns="0" tIns="0" rIns="0" bIns="0" rtlCol="0" anchor="t"/>
          <a:lstStyle/>
          <a:p>
            <a:pPr indent="0" marL="0">
              <a:buNone/>
            </a:pPr>
            <a:r>
              <a:rPr lang="en-US" sz="1700" b="1" dirty="0">
                <a:solidFill>
                  <a:srgbClr val="0F2942"/>
                </a:solidFill>
                <a:latin typeface="Cambria" pitchFamily="34" charset="0"/>
                <a:ea typeface="Cambria" pitchFamily="34" charset="-122"/>
                <a:cs typeface="Cambria" pitchFamily="34" charset="-120"/>
              </a:rPr>
              <a:t>AIS</a:t>
            </a:r>
            <a:endParaRPr lang="en-US" sz="1700" dirty="0"/>
          </a:p>
        </p:txBody>
      </p:sp>
      <p:sp>
        <p:nvSpPr>
          <p:cNvPr id="14" name="Text 12"/>
          <p:cNvSpPr txBox="1"/>
          <p:nvPr/>
        </p:nvSpPr>
        <p:spPr>
          <a:xfrm>
            <a:off x="8458200" y="2039112"/>
            <a:ext cx="2834640" cy="237744"/>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Logistik</a:t>
            </a:r>
            <a:endParaRPr lang="en-US" sz="1000" dirty="0"/>
          </a:p>
        </p:txBody>
      </p:sp>
      <p:sp>
        <p:nvSpPr>
          <p:cNvPr id="15" name="Text 13"/>
          <p:cNvSpPr txBox="1"/>
          <p:nvPr/>
        </p:nvSpPr>
        <p:spPr>
          <a:xfrm>
            <a:off x="8458200" y="2331720"/>
            <a:ext cx="2834640" cy="685800"/>
          </a:xfrm>
          <a:prstGeom prst="rect">
            <a:avLst/>
          </a:prstGeom>
          <a:noFill/>
          <a:ln/>
        </p:spPr>
        <p:txBody>
          <a:bodyPr wrap="square" lIns="0" tIns="0" rIns="0" bIns="0" rtlCol="0" anchor="t"/>
          <a:lstStyle/>
          <a:p>
            <a:pPr indent="0" marL="0">
              <a:lnSpc>
                <a:spcPts val="1600"/>
              </a:lnSpc>
              <a:buNone/>
            </a:pPr>
            <a:r>
              <a:rPr lang="en-US" sz="1200" dirty="0">
                <a:solidFill>
                  <a:srgbClr val="5A6B78"/>
                </a:solidFill>
                <a:latin typeface="Calibri" pitchFamily="34" charset="0"/>
                <a:ea typeface="Calibri" pitchFamily="34" charset="-122"/>
                <a:cs typeface="Calibri" pitchFamily="34" charset="-120"/>
              </a:rPr>
              <a:t>Sinyal navigasi kapal — status keberangkatan dari pelabuhan muat.</a:t>
            </a:r>
            <a:endParaRPr lang="en-US" sz="1200" dirty="0"/>
          </a:p>
        </p:txBody>
      </p:sp>
      <p:sp>
        <p:nvSpPr>
          <p:cNvPr id="16" name="Shape 14"/>
          <p:cNvSpPr/>
          <p:nvPr/>
        </p:nvSpPr>
        <p:spPr>
          <a:xfrm>
            <a:off x="640080" y="3337560"/>
            <a:ext cx="3474720" cy="1645920"/>
          </a:xfrm>
          <a:prstGeom prst="roundRect">
            <a:avLst>
              <a:gd name="adj" fmla="val 4444"/>
            </a:avLst>
          </a:prstGeom>
          <a:solidFill>
            <a:srgbClr val="FFFFFF"/>
          </a:solidFill>
          <a:ln w="12700">
            <a:solidFill>
              <a:srgbClr val="D9E1E7"/>
            </a:solidFill>
            <a:prstDash val="solid"/>
          </a:ln>
        </p:spPr>
      </p:sp>
      <p:sp>
        <p:nvSpPr>
          <p:cNvPr id="17" name="Text 15"/>
          <p:cNvSpPr txBox="1"/>
          <p:nvPr/>
        </p:nvSpPr>
        <p:spPr>
          <a:xfrm>
            <a:off x="960120" y="3566160"/>
            <a:ext cx="2834640" cy="320040"/>
          </a:xfrm>
          <a:prstGeom prst="rect">
            <a:avLst/>
          </a:prstGeom>
          <a:noFill/>
          <a:ln/>
        </p:spPr>
        <p:txBody>
          <a:bodyPr wrap="square" lIns="0" tIns="0" rIns="0" bIns="0" rtlCol="0" anchor="t"/>
          <a:lstStyle/>
          <a:p>
            <a:pPr indent="0" marL="0">
              <a:buNone/>
            </a:pPr>
            <a:r>
              <a:rPr lang="en-US" sz="1700" b="1" dirty="0">
                <a:solidFill>
                  <a:srgbClr val="0F2942"/>
                </a:solidFill>
                <a:latin typeface="Cambria" pitchFamily="34" charset="0"/>
                <a:ea typeface="Cambria" pitchFamily="34" charset="-122"/>
                <a:cs typeface="Cambria" pitchFamily="34" charset="-120"/>
              </a:rPr>
              <a:t>CEISA</a:t>
            </a:r>
            <a:endParaRPr lang="en-US" sz="1700" dirty="0"/>
          </a:p>
        </p:txBody>
      </p:sp>
      <p:sp>
        <p:nvSpPr>
          <p:cNvPr id="18" name="Text 16"/>
          <p:cNvSpPr txBox="1"/>
          <p:nvPr/>
        </p:nvSpPr>
        <p:spPr>
          <a:xfrm>
            <a:off x="960120" y="3913632"/>
            <a:ext cx="2834640" cy="237744"/>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Kepabeanan</a:t>
            </a:r>
            <a:endParaRPr lang="en-US" sz="1000" dirty="0"/>
          </a:p>
        </p:txBody>
      </p:sp>
      <p:sp>
        <p:nvSpPr>
          <p:cNvPr id="19" name="Text 17"/>
          <p:cNvSpPr txBox="1"/>
          <p:nvPr/>
        </p:nvSpPr>
        <p:spPr>
          <a:xfrm>
            <a:off x="960120" y="4206240"/>
            <a:ext cx="2834640" cy="685800"/>
          </a:xfrm>
          <a:prstGeom prst="rect">
            <a:avLst/>
          </a:prstGeom>
          <a:noFill/>
          <a:ln/>
        </p:spPr>
        <p:txBody>
          <a:bodyPr wrap="square" lIns="0" tIns="0" rIns="0" bIns="0" rtlCol="0" anchor="t"/>
          <a:lstStyle/>
          <a:p>
            <a:pPr indent="0" marL="0">
              <a:lnSpc>
                <a:spcPts val="1600"/>
              </a:lnSpc>
              <a:buNone/>
            </a:pPr>
            <a:r>
              <a:rPr lang="en-US" sz="1200" dirty="0">
                <a:solidFill>
                  <a:srgbClr val="5A6B78"/>
                </a:solidFill>
                <a:latin typeface="Calibri" pitchFamily="34" charset="0"/>
                <a:ea typeface="Calibri" pitchFamily="34" charset="-122"/>
                <a:cs typeface="Calibri" pitchFamily="34" charset="-120"/>
              </a:rPr>
              <a:t>Sistem kepabeanan Indonesia — status persetujuan bea cukai.</a:t>
            </a:r>
            <a:endParaRPr lang="en-US" sz="1200" dirty="0"/>
          </a:p>
        </p:txBody>
      </p:sp>
      <p:sp>
        <p:nvSpPr>
          <p:cNvPr id="20" name="Shape 18"/>
          <p:cNvSpPr/>
          <p:nvPr/>
        </p:nvSpPr>
        <p:spPr>
          <a:xfrm>
            <a:off x="4389120" y="3337560"/>
            <a:ext cx="3474720" cy="1645920"/>
          </a:xfrm>
          <a:prstGeom prst="roundRect">
            <a:avLst>
              <a:gd name="adj" fmla="val 4444"/>
            </a:avLst>
          </a:prstGeom>
          <a:solidFill>
            <a:srgbClr val="FFFFFF"/>
          </a:solidFill>
          <a:ln w="12700">
            <a:solidFill>
              <a:srgbClr val="D9E1E7"/>
            </a:solidFill>
            <a:prstDash val="solid"/>
          </a:ln>
        </p:spPr>
      </p:sp>
      <p:sp>
        <p:nvSpPr>
          <p:cNvPr id="21" name="Text 19"/>
          <p:cNvSpPr txBox="1"/>
          <p:nvPr/>
        </p:nvSpPr>
        <p:spPr>
          <a:xfrm>
            <a:off x="4709160" y="3566160"/>
            <a:ext cx="2834640" cy="320040"/>
          </a:xfrm>
          <a:prstGeom prst="rect">
            <a:avLst/>
          </a:prstGeom>
          <a:noFill/>
          <a:ln/>
        </p:spPr>
        <p:txBody>
          <a:bodyPr wrap="square" lIns="0" tIns="0" rIns="0" bIns="0" rtlCol="0" anchor="t"/>
          <a:lstStyle/>
          <a:p>
            <a:pPr indent="0" marL="0">
              <a:buNone/>
            </a:pPr>
            <a:r>
              <a:rPr lang="en-US" sz="1700" b="1" dirty="0">
                <a:solidFill>
                  <a:srgbClr val="0F2942"/>
                </a:solidFill>
                <a:latin typeface="Cambria" pitchFamily="34" charset="0"/>
                <a:ea typeface="Cambria" pitchFamily="34" charset="-122"/>
                <a:cs typeface="Cambria" pitchFamily="34" charset="-120"/>
              </a:rPr>
              <a:t>IPFS</a:t>
            </a:r>
            <a:endParaRPr lang="en-US" sz="1700" dirty="0"/>
          </a:p>
        </p:txBody>
      </p:sp>
      <p:sp>
        <p:nvSpPr>
          <p:cNvPr id="22" name="Text 20"/>
          <p:cNvSpPr txBox="1"/>
          <p:nvPr/>
        </p:nvSpPr>
        <p:spPr>
          <a:xfrm>
            <a:off x="4709160" y="3913632"/>
            <a:ext cx="2834640" cy="237744"/>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Auditor Mutu</a:t>
            </a:r>
            <a:endParaRPr lang="en-US" sz="1000" dirty="0"/>
          </a:p>
        </p:txBody>
      </p:sp>
      <p:sp>
        <p:nvSpPr>
          <p:cNvPr id="23" name="Text 21"/>
          <p:cNvSpPr txBox="1"/>
          <p:nvPr/>
        </p:nvSpPr>
        <p:spPr>
          <a:xfrm>
            <a:off x="4709160" y="4206240"/>
            <a:ext cx="2834640" cy="685800"/>
          </a:xfrm>
          <a:prstGeom prst="rect">
            <a:avLst/>
          </a:prstGeom>
          <a:noFill/>
          <a:ln/>
        </p:spPr>
        <p:txBody>
          <a:bodyPr wrap="square" lIns="0" tIns="0" rIns="0" bIns="0" rtlCol="0" anchor="t"/>
          <a:lstStyle/>
          <a:p>
            <a:pPr indent="0" marL="0">
              <a:lnSpc>
                <a:spcPts val="1600"/>
              </a:lnSpc>
              <a:buNone/>
            </a:pPr>
            <a:r>
              <a:rPr lang="en-US" sz="1200" dirty="0">
                <a:solidFill>
                  <a:srgbClr val="5A6B78"/>
                </a:solidFill>
                <a:latin typeface="Calibri" pitchFamily="34" charset="0"/>
                <a:ea typeface="Calibri" pitchFamily="34" charset="-122"/>
                <a:cs typeface="Calibri" pitchFamily="34" charset="-120"/>
              </a:rPr>
              <a:t>Sidik jari dokumen e-B/L; isinya tidak pernah naik ke rantai.</a:t>
            </a:r>
            <a:endParaRPr lang="en-US" sz="1200" dirty="0"/>
          </a:p>
        </p:txBody>
      </p:sp>
      <p:sp>
        <p:nvSpPr>
          <p:cNvPr id="24" name="Shape 22"/>
          <p:cNvSpPr/>
          <p:nvPr/>
        </p:nvSpPr>
        <p:spPr>
          <a:xfrm>
            <a:off x="4389120" y="3337560"/>
            <a:ext cx="7132320" cy="1645920"/>
          </a:xfrm>
          <a:prstGeom prst="roundRect">
            <a:avLst>
              <a:gd name="adj" fmla="val 4444"/>
            </a:avLst>
          </a:prstGeom>
          <a:solidFill>
            <a:srgbClr val="F1F5F8"/>
          </a:solidFill>
          <a:ln/>
        </p:spPr>
      </p:sp>
      <p:sp>
        <p:nvSpPr>
          <p:cNvPr id="25" name="Text 23"/>
          <p:cNvSpPr txBox="1"/>
          <p:nvPr/>
        </p:nvSpPr>
        <p:spPr>
          <a:xfrm>
            <a:off x="4709160" y="3566160"/>
            <a:ext cx="6492240" cy="320040"/>
          </a:xfrm>
          <a:prstGeom prst="rect">
            <a:avLst/>
          </a:prstGeom>
          <a:noFill/>
          <a:ln/>
        </p:spPr>
        <p:txBody>
          <a:bodyPr wrap="square" lIns="0" tIns="0" rIns="0" bIns="0" rtlCol="0" anchor="t"/>
          <a:lstStyle/>
          <a:p>
            <a:pPr indent="0" marL="0">
              <a:buNone/>
            </a:pPr>
            <a:r>
              <a:rPr lang="en-US" sz="1500" b="1" dirty="0">
                <a:solidFill>
                  <a:srgbClr val="0F2942"/>
                </a:solidFill>
                <a:latin typeface="Cambria" pitchFamily="34" charset="0"/>
                <a:ea typeface="Cambria" pitchFamily="34" charset="-122"/>
                <a:cs typeface="Cambria" pitchFamily="34" charset="-120"/>
              </a:rPr>
              <a:t>Yang perlu Anda tahu tentang status prototipe ini</a:t>
            </a:r>
            <a:endParaRPr lang="en-US" sz="1500" dirty="0"/>
          </a:p>
        </p:txBody>
      </p:sp>
      <p:sp>
        <p:nvSpPr>
          <p:cNvPr id="26" name="Text 24"/>
          <p:cNvSpPr txBox="1"/>
          <p:nvPr/>
        </p:nvSpPr>
        <p:spPr>
          <a:xfrm>
            <a:off x="4709160" y="3950208"/>
            <a:ext cx="6492240" cy="86868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Kelima sumber di atas hari ini masih simulasi yang dapat dikendalikan, supaya kami bisa memperagakan kasus gagal — bukan hanya kasus mulus. Bentuk panggilannya sudah sama dengan sambungan sungguhan.</a:t>
            </a:r>
            <a:endParaRPr lang="en-US" sz="1250" dirty="0"/>
          </a:p>
        </p:txBody>
      </p:sp>
      <p:sp>
        <p:nvSpPr>
          <p:cNvPr id="27" name="Text 25"/>
          <p:cNvSpPr txBox="1"/>
          <p:nvPr/>
        </p:nvSpPr>
        <p:spPr>
          <a:xfrm>
            <a:off x="640080" y="5349240"/>
            <a:ext cx="10881360" cy="457200"/>
          </a:xfrm>
          <a:prstGeom prst="rect">
            <a:avLst/>
          </a:prstGeom>
          <a:noFill/>
          <a:ln/>
        </p:spPr>
        <p:txBody>
          <a:bodyPr wrap="square" lIns="0" tIns="0" rIns="0" bIns="0" rtlCol="0" anchor="ctr"/>
          <a:lstStyle/>
          <a:p>
            <a:pPr indent="0" marL="0">
              <a:buNone/>
            </a:pPr>
            <a:r>
              <a:rPr lang="en-US" sz="1500" i="1" dirty="0">
                <a:solidFill>
                  <a:srgbClr val="0F2942"/>
                </a:solidFill>
                <a:latin typeface="Cambria" pitchFamily="34" charset="0"/>
                <a:ea typeface="Cambria" pitchFamily="34" charset="-122"/>
                <a:cs typeface="Cambria" pitchFamily="34" charset="-120"/>
              </a:rPr>
              <a:t>Isi dokumen tidak pernah disimpan di rantai — hanya sidik jarinya. Rahasia dagang tetap rahasia.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942"/>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PENGAMAN</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Angka-angka yang menjaga uang Anda</a:t>
            </a:r>
            <a:endParaRPr lang="en-US" sz="3400" dirty="0"/>
          </a:p>
        </p:txBody>
      </p:sp>
      <p:sp>
        <p:nvSpPr>
          <p:cNvPr id="4" name="Text 2"/>
          <p:cNvSpPr txBox="1"/>
          <p:nvPr/>
        </p:nvSpPr>
        <p:spPr>
          <a:xfrm>
            <a:off x="640080" y="1691640"/>
            <a:ext cx="2560320" cy="777240"/>
          </a:xfrm>
          <a:prstGeom prst="rect">
            <a:avLst/>
          </a:prstGeom>
          <a:noFill/>
          <a:ln/>
        </p:spPr>
        <p:txBody>
          <a:bodyPr wrap="square" lIns="0" tIns="0" rIns="0" bIns="0" rtlCol="0" anchor="ctr"/>
          <a:lstStyle/>
          <a:p>
            <a:pPr algn="l" indent="0" marL="0">
              <a:buNone/>
            </a:pPr>
            <a:r>
              <a:rPr lang="en-US" sz="4600" b="1" dirty="0">
                <a:solidFill>
                  <a:srgbClr val="E8A33D"/>
                </a:solidFill>
                <a:latin typeface="Cambria" pitchFamily="34" charset="0"/>
                <a:ea typeface="Cambria" pitchFamily="34" charset="-122"/>
                <a:cs typeface="Cambria" pitchFamily="34" charset="-120"/>
              </a:rPr>
              <a:t>6 jam</a:t>
            </a:r>
            <a:endParaRPr lang="en-US" sz="4600" dirty="0"/>
          </a:p>
        </p:txBody>
      </p:sp>
      <p:sp>
        <p:nvSpPr>
          <p:cNvPr id="5" name="Text 3"/>
          <p:cNvSpPr txBox="1"/>
          <p:nvPr/>
        </p:nvSpPr>
        <p:spPr>
          <a:xfrm>
            <a:off x="640080" y="2468880"/>
            <a:ext cx="2560320" cy="640080"/>
          </a:xfrm>
          <a:prstGeom prst="rect">
            <a:avLst/>
          </a:prstGeom>
          <a:noFill/>
          <a:ln/>
        </p:spPr>
        <p:txBody>
          <a:bodyPr wrap="square" lIns="0" tIns="0" rIns="0" bIns="0" rtlCol="0" anchor="ctr"/>
          <a:lstStyle/>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Jendela sanggah setelah</a:t>
            </a:r>
            <a:endParaRPr lang="en-US" sz="1200" dirty="0"/>
          </a:p>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setiap bukti masuk</a:t>
            </a:r>
            <a:endParaRPr lang="en-US" sz="1200" dirty="0"/>
          </a:p>
        </p:txBody>
      </p:sp>
      <p:sp>
        <p:nvSpPr>
          <p:cNvPr id="6" name="Text 4"/>
          <p:cNvSpPr txBox="1"/>
          <p:nvPr/>
        </p:nvSpPr>
        <p:spPr>
          <a:xfrm>
            <a:off x="3474720" y="1691640"/>
            <a:ext cx="2560320" cy="777240"/>
          </a:xfrm>
          <a:prstGeom prst="rect">
            <a:avLst/>
          </a:prstGeom>
          <a:noFill/>
          <a:ln/>
        </p:spPr>
        <p:txBody>
          <a:bodyPr wrap="square" lIns="0" tIns="0" rIns="0" bIns="0" rtlCol="0" anchor="ctr"/>
          <a:lstStyle/>
          <a:p>
            <a:pPr algn="l" indent="0" marL="0">
              <a:buNone/>
            </a:pPr>
            <a:r>
              <a:rPr lang="en-US" sz="4600" b="1" dirty="0">
                <a:solidFill>
                  <a:srgbClr val="E8A33D"/>
                </a:solidFill>
                <a:latin typeface="Cambria" pitchFamily="34" charset="0"/>
                <a:ea typeface="Cambria" pitchFamily="34" charset="-122"/>
                <a:cs typeface="Cambria" pitchFamily="34" charset="-120"/>
              </a:rPr>
              <a:t>24 jam</a:t>
            </a:r>
            <a:endParaRPr lang="en-US" sz="4600" dirty="0"/>
          </a:p>
        </p:txBody>
      </p:sp>
      <p:sp>
        <p:nvSpPr>
          <p:cNvPr id="7" name="Text 5"/>
          <p:cNvSpPr txBox="1"/>
          <p:nvPr/>
        </p:nvSpPr>
        <p:spPr>
          <a:xfrm>
            <a:off x="3474720" y="2468880"/>
            <a:ext cx="2560320" cy="640080"/>
          </a:xfrm>
          <a:prstGeom prst="rect">
            <a:avLst/>
          </a:prstGeom>
          <a:noFill/>
          <a:ln/>
        </p:spPr>
        <p:txBody>
          <a:bodyPr wrap="square" lIns="0" tIns="0" rIns="0" bIns="0" rtlCol="0" anchor="ctr"/>
          <a:lstStyle/>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Timelock terakhir sebelum</a:t>
            </a:r>
            <a:endParaRPr lang="en-US" sz="1200" dirty="0"/>
          </a:p>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dana benar-benar pindah</a:t>
            </a:r>
            <a:endParaRPr lang="en-US" sz="1200" dirty="0"/>
          </a:p>
        </p:txBody>
      </p:sp>
      <p:sp>
        <p:nvSpPr>
          <p:cNvPr id="8" name="Text 6"/>
          <p:cNvSpPr txBox="1"/>
          <p:nvPr/>
        </p:nvSpPr>
        <p:spPr>
          <a:xfrm>
            <a:off x="6309360" y="1691640"/>
            <a:ext cx="2560320" cy="777240"/>
          </a:xfrm>
          <a:prstGeom prst="rect">
            <a:avLst/>
          </a:prstGeom>
          <a:noFill/>
          <a:ln/>
        </p:spPr>
        <p:txBody>
          <a:bodyPr wrap="square" lIns="0" tIns="0" rIns="0" bIns="0" rtlCol="0" anchor="ctr"/>
          <a:lstStyle/>
          <a:p>
            <a:pPr algn="l" indent="0" marL="0">
              <a:buNone/>
            </a:pPr>
            <a:r>
              <a:rPr lang="en-US" sz="4600" b="1" dirty="0">
                <a:solidFill>
                  <a:srgbClr val="E8A33D"/>
                </a:solidFill>
                <a:latin typeface="Cambria" pitchFamily="34" charset="0"/>
                <a:ea typeface="Cambria" pitchFamily="34" charset="-122"/>
                <a:cs typeface="Cambria" pitchFamily="34" charset="-120"/>
              </a:rPr>
              <a:t>3%</a:t>
            </a:r>
            <a:endParaRPr lang="en-US" sz="4600" dirty="0"/>
          </a:p>
        </p:txBody>
      </p:sp>
      <p:sp>
        <p:nvSpPr>
          <p:cNvPr id="9" name="Text 7"/>
          <p:cNvSpPr txBox="1"/>
          <p:nvPr/>
        </p:nvSpPr>
        <p:spPr>
          <a:xfrm>
            <a:off x="6309360" y="2468880"/>
            <a:ext cx="2560320" cy="640080"/>
          </a:xfrm>
          <a:prstGeom prst="rect">
            <a:avLst/>
          </a:prstGeom>
          <a:noFill/>
          <a:ln/>
        </p:spPr>
        <p:txBody>
          <a:bodyPr wrap="square" lIns="0" tIns="0" rIns="0" bIns="0" rtlCol="0" anchor="ctr"/>
          <a:lstStyle/>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Jaminan yang harus ditaruh</a:t>
            </a:r>
            <a:endParaRPr lang="en-US" sz="1200" dirty="0"/>
          </a:p>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untuk membuka sengketa</a:t>
            </a:r>
            <a:endParaRPr lang="en-US" sz="1200" dirty="0"/>
          </a:p>
        </p:txBody>
      </p:sp>
      <p:sp>
        <p:nvSpPr>
          <p:cNvPr id="10" name="Text 8"/>
          <p:cNvSpPr txBox="1"/>
          <p:nvPr/>
        </p:nvSpPr>
        <p:spPr>
          <a:xfrm>
            <a:off x="9144000" y="1691640"/>
            <a:ext cx="2560320" cy="777240"/>
          </a:xfrm>
          <a:prstGeom prst="rect">
            <a:avLst/>
          </a:prstGeom>
          <a:noFill/>
          <a:ln/>
        </p:spPr>
        <p:txBody>
          <a:bodyPr wrap="square" lIns="0" tIns="0" rIns="0" bIns="0" rtlCol="0" anchor="ctr"/>
          <a:lstStyle/>
          <a:p>
            <a:pPr algn="l" indent="0" marL="0">
              <a:buNone/>
            </a:pPr>
            <a:r>
              <a:rPr lang="en-US" sz="4600" b="1" dirty="0">
                <a:solidFill>
                  <a:srgbClr val="E8A33D"/>
                </a:solidFill>
                <a:latin typeface="Cambria" pitchFamily="34" charset="0"/>
                <a:ea typeface="Cambria" pitchFamily="34" charset="-122"/>
                <a:cs typeface="Cambria" pitchFamily="34" charset="-120"/>
              </a:rPr>
              <a:t>50%</a:t>
            </a:r>
            <a:endParaRPr lang="en-US" sz="4600" dirty="0"/>
          </a:p>
        </p:txBody>
      </p:sp>
      <p:sp>
        <p:nvSpPr>
          <p:cNvPr id="11" name="Text 9"/>
          <p:cNvSpPr txBox="1"/>
          <p:nvPr/>
        </p:nvSpPr>
        <p:spPr>
          <a:xfrm>
            <a:off x="9144000" y="2468880"/>
            <a:ext cx="2560320" cy="640080"/>
          </a:xfrm>
          <a:prstGeom prst="rect">
            <a:avLst/>
          </a:prstGeom>
          <a:noFill/>
          <a:ln/>
        </p:spPr>
        <p:txBody>
          <a:bodyPr wrap="square" lIns="0" tIns="0" rIns="0" bIns="0" rtlCol="0" anchor="ctr"/>
          <a:lstStyle/>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Bagian jaminan verifikator</a:t>
            </a:r>
            <a:endParaRPr lang="en-US" sz="1200" dirty="0"/>
          </a:p>
          <a:p>
            <a:pPr algn="l" indent="0" marL="0">
              <a:lnSpc>
                <a:spcPts val="1600"/>
              </a:lnSpc>
              <a:buNone/>
            </a:pPr>
            <a:r>
              <a:rPr lang="en-US" sz="1200" dirty="0">
                <a:solidFill>
                  <a:srgbClr val="9FB4C4"/>
                </a:solidFill>
                <a:latin typeface="Calibri" pitchFamily="34" charset="0"/>
                <a:ea typeface="Calibri" pitchFamily="34" charset="-122"/>
                <a:cs typeface="Calibri" pitchFamily="34" charset="-120"/>
              </a:rPr>
              <a:t>yang dipotong bila terbukti salah</a:t>
            </a:r>
            <a:endParaRPr lang="en-US" sz="1200" dirty="0"/>
          </a:p>
        </p:txBody>
      </p:sp>
      <p:sp>
        <p:nvSpPr>
          <p:cNvPr id="12" name="Shape 10"/>
          <p:cNvSpPr/>
          <p:nvPr/>
        </p:nvSpPr>
        <p:spPr>
          <a:xfrm>
            <a:off x="640080" y="3931920"/>
            <a:ext cx="10881360" cy="1371600"/>
          </a:xfrm>
          <a:prstGeom prst="roundRect">
            <a:avLst>
              <a:gd name="adj" fmla="val 5333"/>
            </a:avLst>
          </a:prstGeom>
          <a:solidFill>
            <a:srgbClr val="1B3E5C"/>
          </a:solidFill>
          <a:ln/>
        </p:spPr>
      </p:sp>
      <p:sp>
        <p:nvSpPr>
          <p:cNvPr id="13" name="Text 11"/>
          <p:cNvSpPr txBox="1"/>
          <p:nvPr/>
        </p:nvSpPr>
        <p:spPr>
          <a:xfrm>
            <a:off x="1051560" y="4187952"/>
            <a:ext cx="1005840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Kalau verifikator berbohong, dia yang membayar</a:t>
            </a:r>
            <a:endParaRPr lang="en-US" sz="1800" dirty="0"/>
          </a:p>
        </p:txBody>
      </p:sp>
      <p:sp>
        <p:nvSpPr>
          <p:cNvPr id="14" name="Text 12"/>
          <p:cNvSpPr txBox="1"/>
          <p:nvPr/>
        </p:nvSpPr>
        <p:spPr>
          <a:xfrm>
            <a:off x="1051560" y="4590288"/>
            <a:ext cx="10058400" cy="640080"/>
          </a:xfrm>
          <a:prstGeom prst="rect">
            <a:avLst/>
          </a:prstGeom>
          <a:noFill/>
          <a:ln/>
        </p:spPr>
        <p:txBody>
          <a:bodyPr wrap="square" lIns="0" tIns="0" rIns="0" bIns="0" rtlCol="0" anchor="t"/>
          <a:lstStyle/>
          <a:p>
            <a:pPr indent="0" marL="0">
              <a:lnSpc>
                <a:spcPts val="1900"/>
              </a:lnSpc>
              <a:buNone/>
            </a:pPr>
            <a:r>
              <a:rPr lang="en-US" sz="1350" dirty="0">
                <a:solidFill>
                  <a:srgbClr val="A8C4D6"/>
                </a:solidFill>
                <a:latin typeface="Calibri" pitchFamily="34" charset="0"/>
                <a:ea typeface="Calibri" pitchFamily="34" charset="-122"/>
                <a:cs typeface="Calibri" pitchFamily="34" charset="-120"/>
              </a:rPr>
              <a:t>Setiap verifikator wajib menaruh jaminan sebelum boleh mengirim bukti. Bila arbiter memutuskan buktinya salah, jaminan itu dipotong: 70% mengalir ke pihak yang dirugikan, 30% ke kas protokol. Tiga kali salah, perannya dicabut permanen.</a:t>
            </a:r>
            <a:endParaRPr lang="en-US" sz="1350" dirty="0"/>
          </a:p>
        </p:txBody>
      </p:sp>
      <p:sp>
        <p:nvSpPr>
          <p:cNvPr id="15" name="Text 13"/>
          <p:cNvSpPr txBox="1"/>
          <p:nvPr/>
        </p:nvSpPr>
        <p:spPr>
          <a:xfrm>
            <a:off x="640080" y="5577840"/>
            <a:ext cx="10881360" cy="457200"/>
          </a:xfrm>
          <a:prstGeom prst="rect">
            <a:avLst/>
          </a:prstGeom>
          <a:noFill/>
          <a:ln/>
        </p:spPr>
        <p:txBody>
          <a:bodyPr wrap="square" lIns="0" tIns="0" rIns="0" bIns="0" rtlCol="0" anchor="ctr"/>
          <a:lstStyle/>
          <a:p>
            <a:pPr indent="0" marL="0">
              <a:buNone/>
            </a:pPr>
            <a:r>
              <a:rPr lang="en-US" sz="1600" i="1" dirty="0">
                <a:solidFill>
                  <a:srgbClr val="E8A33D"/>
                </a:solidFill>
                <a:latin typeface="Cambria" pitchFamily="34" charset="0"/>
                <a:ea typeface="Cambria" pitchFamily="34" charset="-122"/>
                <a:cs typeface="Cambria" pitchFamily="34" charset="-120"/>
              </a:rPr>
              <a:t>Kejujuran di sini bukan imbauan. Ia punya harga, dan harganya ditagih otomatis.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UNTUK ANDA SEBAGAI PEMBELI</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Apa yang berubah di sisi Anda</a:t>
            </a:r>
            <a:endParaRPr lang="en-US" sz="3400" dirty="0"/>
          </a:p>
        </p:txBody>
      </p:sp>
      <p:sp>
        <p:nvSpPr>
          <p:cNvPr id="4" name="Shape 2"/>
          <p:cNvSpPr/>
          <p:nvPr/>
        </p:nvSpPr>
        <p:spPr>
          <a:xfrm>
            <a:off x="685800" y="1673352"/>
            <a:ext cx="640080" cy="640080"/>
          </a:xfrm>
          <a:prstGeom prst="ellipse">
            <a:avLst/>
          </a:prstGeom>
          <a:solidFill>
            <a:srgbClr val="0F2942"/>
          </a:solidFill>
          <a:ln/>
        </p:spPr>
      </p:sp>
      <p:sp>
        <p:nvSpPr>
          <p:cNvPr id="5" name="Text 3"/>
          <p:cNvSpPr txBox="1"/>
          <p:nvPr/>
        </p:nvSpPr>
        <p:spPr>
          <a:xfrm>
            <a:off x="685800" y="167335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600200" y="1600200"/>
            <a:ext cx="9875520" cy="365760"/>
          </a:xfrm>
          <a:prstGeom prst="rect">
            <a:avLst/>
          </a:prstGeom>
          <a:noFill/>
          <a:ln/>
        </p:spPr>
        <p:txBody>
          <a:bodyPr wrap="square" lIns="0" tIns="0" rIns="0" bIns="0" rtlCol="0" anchor="t"/>
          <a:lstStyle/>
          <a:p>
            <a:pPr indent="0" marL="0">
              <a:buNone/>
            </a:pPr>
            <a:r>
              <a:rPr lang="en-US" sz="1800" b="1" dirty="0">
                <a:solidFill>
                  <a:srgbClr val="0F2942"/>
                </a:solidFill>
                <a:latin typeface="Cambria" pitchFamily="34" charset="0"/>
                <a:ea typeface="Cambria" pitchFamily="34" charset="-122"/>
                <a:cs typeface="Cambria" pitchFamily="34" charset="-120"/>
              </a:rPr>
              <a:t>Uang Anda tidak pernah lepas lebih awal</a:t>
            </a:r>
            <a:endParaRPr lang="en-US" sz="1800" dirty="0"/>
          </a:p>
        </p:txBody>
      </p:sp>
      <p:sp>
        <p:nvSpPr>
          <p:cNvPr id="7" name="Text 5"/>
          <p:cNvSpPr txBox="1"/>
          <p:nvPr/>
        </p:nvSpPr>
        <p:spPr>
          <a:xfrm>
            <a:off x="1600200" y="2039112"/>
            <a:ext cx="9875520" cy="777240"/>
          </a:xfrm>
          <a:prstGeom prst="rect">
            <a:avLst/>
          </a:prstGeom>
          <a:noFill/>
          <a:ln/>
        </p:spPr>
        <p:txBody>
          <a:bodyPr wrap="square" lIns="0" tIns="0" rIns="0" bIns="0" rtlCol="0" anchor="t"/>
          <a:lstStyle/>
          <a:p>
            <a:pPr indent="0" marL="0">
              <a:lnSpc>
                <a:spcPts val="1900"/>
              </a:lnSpc>
              <a:buNone/>
            </a:pPr>
            <a:r>
              <a:rPr lang="en-US" sz="1350" dirty="0">
                <a:solidFill>
                  <a:srgbClr val="5A6B78"/>
                </a:solidFill>
                <a:latin typeface="Calibri" pitchFamily="34" charset="0"/>
                <a:ea typeface="Calibri" pitchFamily="34" charset="-122"/>
                <a:cs typeface="Calibri" pitchFamily="34" charset="-120"/>
              </a:rPr>
              <a:t>Dana masuk ke kontrak, bukan ke rekening eksportir. Sampai bukti ketiga masuk dan timelock lewat, uang itu masih milik Anda dan bisa ditarik kembali bila tenggat terlewat.</a:t>
            </a:r>
            <a:endParaRPr lang="en-US" sz="1350" dirty="0"/>
          </a:p>
        </p:txBody>
      </p:sp>
      <p:sp>
        <p:nvSpPr>
          <p:cNvPr id="8" name="Shape 6"/>
          <p:cNvSpPr/>
          <p:nvPr/>
        </p:nvSpPr>
        <p:spPr>
          <a:xfrm>
            <a:off x="685800" y="3136392"/>
            <a:ext cx="640080" cy="640080"/>
          </a:xfrm>
          <a:prstGeom prst="ellipse">
            <a:avLst/>
          </a:prstGeom>
          <a:solidFill>
            <a:srgbClr val="0F2942"/>
          </a:solidFill>
          <a:ln/>
        </p:spPr>
      </p:sp>
      <p:sp>
        <p:nvSpPr>
          <p:cNvPr id="9" name="Text 7"/>
          <p:cNvSpPr txBox="1"/>
          <p:nvPr/>
        </p:nvSpPr>
        <p:spPr>
          <a:xfrm>
            <a:off x="685800" y="313639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600200" y="3063240"/>
            <a:ext cx="9875520" cy="365760"/>
          </a:xfrm>
          <a:prstGeom prst="rect">
            <a:avLst/>
          </a:prstGeom>
          <a:noFill/>
          <a:ln/>
        </p:spPr>
        <p:txBody>
          <a:bodyPr wrap="square" lIns="0" tIns="0" rIns="0" bIns="0" rtlCol="0" anchor="t"/>
          <a:lstStyle/>
          <a:p>
            <a:pPr indent="0" marL="0">
              <a:buNone/>
            </a:pPr>
            <a:r>
              <a:rPr lang="en-US" sz="1800" b="1" dirty="0">
                <a:solidFill>
                  <a:srgbClr val="0F2942"/>
                </a:solidFill>
                <a:latin typeface="Cambria" pitchFamily="34" charset="0"/>
                <a:ea typeface="Cambria" pitchFamily="34" charset="-122"/>
                <a:cs typeface="Cambria" pitchFamily="34" charset="-120"/>
              </a:rPr>
              <a:t>Anda melihat kemajuan tanpa menelepon siapa pun</a:t>
            </a:r>
            <a:endParaRPr lang="en-US" sz="1800" dirty="0"/>
          </a:p>
        </p:txBody>
      </p:sp>
      <p:sp>
        <p:nvSpPr>
          <p:cNvPr id="11" name="Text 9"/>
          <p:cNvSpPr txBox="1"/>
          <p:nvPr/>
        </p:nvSpPr>
        <p:spPr>
          <a:xfrm>
            <a:off x="1600200" y="3502152"/>
            <a:ext cx="9875520" cy="777240"/>
          </a:xfrm>
          <a:prstGeom prst="rect">
            <a:avLst/>
          </a:prstGeom>
          <a:noFill/>
          <a:ln/>
        </p:spPr>
        <p:txBody>
          <a:bodyPr wrap="square" lIns="0" tIns="0" rIns="0" bIns="0" rtlCol="0" anchor="t"/>
          <a:lstStyle/>
          <a:p>
            <a:pPr indent="0" marL="0">
              <a:lnSpc>
                <a:spcPts val="1900"/>
              </a:lnSpc>
              <a:buNone/>
            </a:pPr>
            <a:r>
              <a:rPr lang="en-US" sz="1350" dirty="0">
                <a:solidFill>
                  <a:srgbClr val="5A6B78"/>
                </a:solidFill>
                <a:latin typeface="Calibri" pitchFamily="34" charset="0"/>
                <a:ea typeface="Calibri" pitchFamily="34" charset="-122"/>
                <a:cs typeface="Calibri" pitchFamily="34" charset="-120"/>
              </a:rPr>
              <a:t>Status kontainer, keberangkatan kapal, dan kepabeanan tampil sebagai bukti bertanda waktu — sumber yang sama untuk Anda dan untuk eksportir, sehingga tidak ada lagi dua versi cerita.</a:t>
            </a:r>
            <a:endParaRPr lang="en-US" sz="1350" dirty="0"/>
          </a:p>
        </p:txBody>
      </p:sp>
      <p:sp>
        <p:nvSpPr>
          <p:cNvPr id="12" name="Shape 10"/>
          <p:cNvSpPr/>
          <p:nvPr/>
        </p:nvSpPr>
        <p:spPr>
          <a:xfrm>
            <a:off x="685800" y="4599432"/>
            <a:ext cx="640080" cy="640080"/>
          </a:xfrm>
          <a:prstGeom prst="ellipse">
            <a:avLst/>
          </a:prstGeom>
          <a:solidFill>
            <a:srgbClr val="0F2942"/>
          </a:solidFill>
          <a:ln/>
        </p:spPr>
      </p:sp>
      <p:sp>
        <p:nvSpPr>
          <p:cNvPr id="13" name="Text 11"/>
          <p:cNvSpPr txBox="1"/>
          <p:nvPr/>
        </p:nvSpPr>
        <p:spPr>
          <a:xfrm>
            <a:off x="685800" y="4599432"/>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600200" y="4526280"/>
            <a:ext cx="9875520" cy="365760"/>
          </a:xfrm>
          <a:prstGeom prst="rect">
            <a:avLst/>
          </a:prstGeom>
          <a:noFill/>
          <a:ln/>
        </p:spPr>
        <p:txBody>
          <a:bodyPr wrap="square" lIns="0" tIns="0" rIns="0" bIns="0" rtlCol="0" anchor="t"/>
          <a:lstStyle/>
          <a:p>
            <a:pPr indent="0" marL="0">
              <a:buNone/>
            </a:pPr>
            <a:r>
              <a:rPr lang="en-US" sz="1800" b="1" dirty="0">
                <a:solidFill>
                  <a:srgbClr val="0F2942"/>
                </a:solidFill>
                <a:latin typeface="Cambria" pitchFamily="34" charset="0"/>
                <a:ea typeface="Cambria" pitchFamily="34" charset="-122"/>
                <a:cs typeface="Cambria" pitchFamily="34" charset="-120"/>
              </a:rPr>
              <a:t>Eksportir Anda mau bekerja dengan syarat lebih baik</a:t>
            </a:r>
            <a:endParaRPr lang="en-US" sz="1800" dirty="0"/>
          </a:p>
        </p:txBody>
      </p:sp>
      <p:sp>
        <p:nvSpPr>
          <p:cNvPr id="15" name="Text 13"/>
          <p:cNvSpPr txBox="1"/>
          <p:nvPr/>
        </p:nvSpPr>
        <p:spPr>
          <a:xfrm>
            <a:off x="1600200" y="4965192"/>
            <a:ext cx="9875520" cy="777240"/>
          </a:xfrm>
          <a:prstGeom prst="rect">
            <a:avLst/>
          </a:prstGeom>
          <a:noFill/>
          <a:ln/>
        </p:spPr>
        <p:txBody>
          <a:bodyPr wrap="square" lIns="0" tIns="0" rIns="0" bIns="0" rtlCol="0" anchor="t"/>
          <a:lstStyle/>
          <a:p>
            <a:pPr indent="0" marL="0">
              <a:lnSpc>
                <a:spcPts val="1900"/>
              </a:lnSpc>
              <a:buNone/>
            </a:pPr>
            <a:r>
              <a:rPr lang="en-US" sz="1350" dirty="0">
                <a:solidFill>
                  <a:srgbClr val="5A6B78"/>
                </a:solidFill>
                <a:latin typeface="Calibri" pitchFamily="34" charset="0"/>
                <a:ea typeface="Calibri" pitchFamily="34" charset="-122"/>
                <a:cs typeface="Calibri" pitchFamily="34" charset="-120"/>
              </a:rPr>
              <a:t>Karena dana terlihat sudah terkunci sejak hari pertama, eksportir tidak lagi menuntut pembayaran di muka. Itu memperbaiki harga dan tempo yang bisa Anda negosiasikan.</a:t>
            </a:r>
            <a:endParaRPr lang="en-US" sz="1350" dirty="0"/>
          </a:p>
        </p:txBody>
      </p:sp>
      <p:sp>
        <p:nvSpPr>
          <p:cNvPr id="16" name="Shape 14"/>
          <p:cNvSpPr/>
          <p:nvPr/>
        </p:nvSpPr>
        <p:spPr>
          <a:xfrm>
            <a:off x="640080" y="5760720"/>
            <a:ext cx="10881360" cy="594360"/>
          </a:xfrm>
          <a:prstGeom prst="roundRect">
            <a:avLst>
              <a:gd name="adj" fmla="val 12308"/>
            </a:avLst>
          </a:prstGeom>
          <a:solidFill>
            <a:srgbClr val="F1F5F8"/>
          </a:solidFill>
          <a:ln/>
        </p:spPr>
      </p:sp>
      <p:sp>
        <p:nvSpPr>
          <p:cNvPr id="17" name="Text 15"/>
          <p:cNvSpPr txBox="1"/>
          <p:nvPr/>
        </p:nvSpPr>
        <p:spPr>
          <a:xfrm>
            <a:off x="1051560" y="5925312"/>
            <a:ext cx="10058400" cy="320040"/>
          </a:xfrm>
          <a:prstGeom prst="rect">
            <a:avLst/>
          </a:prstGeom>
          <a:noFill/>
          <a:ln/>
        </p:spPr>
        <p:txBody>
          <a:bodyPr wrap="square" lIns="0" tIns="0" rIns="0" bIns="0" rtlCol="0" anchor="t"/>
          <a:lstStyle/>
          <a:p>
            <a:pPr indent="0" marL="0">
              <a:lnSpc>
                <a:spcPts val="2000"/>
              </a:lnSpc>
              <a:buNone/>
            </a:pPr>
            <a:r>
              <a:rPr lang="en-US" sz="1300" i="1" dirty="0">
                <a:solidFill>
                  <a:srgbClr val="0F2942"/>
                </a:solidFill>
                <a:latin typeface="Calibri" pitchFamily="34" charset="0"/>
                <a:ea typeface="Calibri" pitchFamily="34" charset="-122"/>
                <a:cs typeface="Calibri" pitchFamily="34" charset="-120"/>
              </a:rPr>
              <a:t>Yang Anda serahkan sebagai gantinya: kesediaan mengunci dana lebih awal, dan menerima keputusan bukti apa adanya.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942"/>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ARSITEKTUR</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Empat lapis, satu arah aliran</a:t>
            </a:r>
            <a:endParaRPr lang="en-US" sz="3400" dirty="0"/>
          </a:p>
        </p:txBody>
      </p:sp>
      <p:sp>
        <p:nvSpPr>
          <p:cNvPr id="4" name="Shape 2"/>
          <p:cNvSpPr/>
          <p:nvPr/>
        </p:nvSpPr>
        <p:spPr>
          <a:xfrm>
            <a:off x="640080" y="1417320"/>
            <a:ext cx="10881360" cy="1005840"/>
          </a:xfrm>
          <a:prstGeom prst="roundRect">
            <a:avLst>
              <a:gd name="adj" fmla="val 7273"/>
            </a:avLst>
          </a:prstGeom>
          <a:solidFill>
            <a:srgbClr val="2E93B5"/>
          </a:solidFill>
          <a:ln/>
        </p:spPr>
      </p:sp>
      <p:sp>
        <p:nvSpPr>
          <p:cNvPr id="5" name="Text 3"/>
          <p:cNvSpPr txBox="1"/>
          <p:nvPr/>
        </p:nvSpPr>
        <p:spPr>
          <a:xfrm>
            <a:off x="1051560" y="1563624"/>
            <a:ext cx="3566160" cy="3200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Antarmuka pengguna</a:t>
            </a:r>
            <a:endParaRPr lang="en-US" sz="1700" dirty="0"/>
          </a:p>
        </p:txBody>
      </p:sp>
      <p:sp>
        <p:nvSpPr>
          <p:cNvPr id="6" name="Text 4"/>
          <p:cNvSpPr txBox="1"/>
          <p:nvPr/>
        </p:nvSpPr>
        <p:spPr>
          <a:xfrm>
            <a:off x="1051560" y="1947672"/>
            <a:ext cx="4023360" cy="274320"/>
          </a:xfrm>
          <a:prstGeom prst="rect">
            <a:avLst/>
          </a:prstGeom>
          <a:noFill/>
          <a:ln/>
        </p:spPr>
        <p:txBody>
          <a:bodyPr wrap="square" lIns="0" tIns="0" rIns="0" bIns="0" rtlCol="0" anchor="ctr"/>
          <a:lstStyle/>
          <a:p>
            <a:pPr indent="0" marL="0">
              <a:buNone/>
            </a:pPr>
            <a:r>
              <a:rPr lang="en-US" sz="1050" dirty="0">
                <a:solidFill>
                  <a:srgbClr val="9FC4DA"/>
                </a:solidFill>
                <a:latin typeface="Courier New" pitchFamily="34" charset="0"/>
                <a:ea typeface="Courier New" pitchFamily="34" charset="-122"/>
                <a:cs typeface="Courier New" pitchFamily="34" charset="-120"/>
              </a:rPr>
              <a:t>React 18 · Vite 5 · Tailwind CSS</a:t>
            </a:r>
            <a:endParaRPr lang="en-US" sz="1050" dirty="0"/>
          </a:p>
        </p:txBody>
      </p:sp>
      <p:sp>
        <p:nvSpPr>
          <p:cNvPr id="7" name="Text 5"/>
          <p:cNvSpPr txBox="1"/>
          <p:nvPr/>
        </p:nvSpPr>
        <p:spPr>
          <a:xfrm>
            <a:off x="5394960" y="1691640"/>
            <a:ext cx="5760720" cy="548640"/>
          </a:xfrm>
          <a:prstGeom prst="rect">
            <a:avLst/>
          </a:prstGeom>
          <a:noFill/>
          <a:ln/>
        </p:spPr>
        <p:txBody>
          <a:bodyPr wrap="square" lIns="0" tIns="0" rIns="0" bIns="0" rtlCol="0" anchor="t"/>
          <a:lstStyle/>
          <a:p>
            <a:pPr indent="0" marL="0">
              <a:lnSpc>
                <a:spcPts val="1800"/>
              </a:lnSpc>
              <a:buNone/>
            </a:pPr>
            <a:r>
              <a:rPr lang="en-US" sz="1300" dirty="0">
                <a:solidFill>
                  <a:srgbClr val="C6DCEA"/>
                </a:solidFill>
                <a:latin typeface="Calibri" pitchFamily="34" charset="0"/>
                <a:ea typeface="Calibri" pitchFamily="34" charset="-122"/>
                <a:cs typeface="Calibri" pitchFamily="34" charset="-120"/>
              </a:rPr>
              <a:t>Yang dilihat importir, eksportir, dan arbiter di peramban.</a:t>
            </a:r>
            <a:endParaRPr lang="en-US" sz="1300" dirty="0"/>
          </a:p>
        </p:txBody>
      </p:sp>
      <p:sp>
        <p:nvSpPr>
          <p:cNvPr id="8" name="Shape 6"/>
          <p:cNvSpPr/>
          <p:nvPr/>
        </p:nvSpPr>
        <p:spPr>
          <a:xfrm>
            <a:off x="640080" y="2551176"/>
            <a:ext cx="10881360" cy="1005840"/>
          </a:xfrm>
          <a:prstGeom prst="roundRect">
            <a:avLst>
              <a:gd name="adj" fmla="val 7273"/>
            </a:avLst>
          </a:prstGeom>
          <a:solidFill>
            <a:srgbClr val="1C7293"/>
          </a:solidFill>
          <a:ln/>
        </p:spPr>
      </p:sp>
      <p:sp>
        <p:nvSpPr>
          <p:cNvPr id="9" name="Text 7"/>
          <p:cNvSpPr txBox="1"/>
          <p:nvPr/>
        </p:nvSpPr>
        <p:spPr>
          <a:xfrm>
            <a:off x="1051560" y="2697480"/>
            <a:ext cx="3566160" cy="3200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Dompet tanpa repot</a:t>
            </a:r>
            <a:endParaRPr lang="en-US" sz="1700" dirty="0"/>
          </a:p>
        </p:txBody>
      </p:sp>
      <p:sp>
        <p:nvSpPr>
          <p:cNvPr id="10" name="Text 8"/>
          <p:cNvSpPr txBox="1"/>
          <p:nvPr/>
        </p:nvSpPr>
        <p:spPr>
          <a:xfrm>
            <a:off x="1051560" y="3081528"/>
            <a:ext cx="4023360" cy="274320"/>
          </a:xfrm>
          <a:prstGeom prst="rect">
            <a:avLst/>
          </a:prstGeom>
          <a:noFill/>
          <a:ln/>
        </p:spPr>
        <p:txBody>
          <a:bodyPr wrap="square" lIns="0" tIns="0" rIns="0" bIns="0" rtlCol="0" anchor="ctr"/>
          <a:lstStyle/>
          <a:p>
            <a:pPr indent="0" marL="0">
              <a:buNone/>
            </a:pPr>
            <a:r>
              <a:rPr lang="en-US" sz="1050" dirty="0">
                <a:solidFill>
                  <a:srgbClr val="9FC4DA"/>
                </a:solidFill>
                <a:latin typeface="Courier New" pitchFamily="34" charset="0"/>
                <a:ea typeface="Courier New" pitchFamily="34" charset="-122"/>
                <a:cs typeface="Courier New" pitchFamily="34" charset="-120"/>
              </a:rPr>
              <a:t>Particle Network · Pimlico · ERC-4337</a:t>
            </a:r>
            <a:endParaRPr lang="en-US" sz="1050" dirty="0"/>
          </a:p>
        </p:txBody>
      </p:sp>
      <p:sp>
        <p:nvSpPr>
          <p:cNvPr id="11" name="Text 9"/>
          <p:cNvSpPr txBox="1"/>
          <p:nvPr/>
        </p:nvSpPr>
        <p:spPr>
          <a:xfrm>
            <a:off x="5394960" y="2825496"/>
            <a:ext cx="5760720" cy="548640"/>
          </a:xfrm>
          <a:prstGeom prst="rect">
            <a:avLst/>
          </a:prstGeom>
          <a:noFill/>
          <a:ln/>
        </p:spPr>
        <p:txBody>
          <a:bodyPr wrap="square" lIns="0" tIns="0" rIns="0" bIns="0" rtlCol="0" anchor="t"/>
          <a:lstStyle/>
          <a:p>
            <a:pPr indent="0" marL="0">
              <a:lnSpc>
                <a:spcPts val="1800"/>
              </a:lnSpc>
              <a:buNone/>
            </a:pPr>
            <a:r>
              <a:rPr lang="en-US" sz="1300" dirty="0">
                <a:solidFill>
                  <a:srgbClr val="C6DCEA"/>
                </a:solidFill>
                <a:latin typeface="Calibri" pitchFamily="34" charset="0"/>
                <a:ea typeface="Calibri" pitchFamily="34" charset="-122"/>
                <a:cs typeface="Calibri" pitchFamily="34" charset="-120"/>
              </a:rPr>
              <a:t>Masuk pakai akun Google; dompet dibuat otomatis, biaya gas ditalangi.</a:t>
            </a:r>
            <a:endParaRPr lang="en-US" sz="1300" dirty="0"/>
          </a:p>
        </p:txBody>
      </p:sp>
      <p:sp>
        <p:nvSpPr>
          <p:cNvPr id="12" name="Shape 10"/>
          <p:cNvSpPr/>
          <p:nvPr/>
        </p:nvSpPr>
        <p:spPr>
          <a:xfrm>
            <a:off x="640080" y="3685032"/>
            <a:ext cx="10881360" cy="1005840"/>
          </a:xfrm>
          <a:prstGeom prst="roundRect">
            <a:avLst>
              <a:gd name="adj" fmla="val 7273"/>
            </a:avLst>
          </a:prstGeom>
          <a:solidFill>
            <a:srgbClr val="1B3E5C"/>
          </a:solidFill>
          <a:ln/>
        </p:spPr>
      </p:sp>
      <p:sp>
        <p:nvSpPr>
          <p:cNvPr id="13" name="Text 11"/>
          <p:cNvSpPr txBox="1"/>
          <p:nvPr/>
        </p:nvSpPr>
        <p:spPr>
          <a:xfrm>
            <a:off x="1051560" y="3831336"/>
            <a:ext cx="3566160" cy="3200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Gerbang oracle</a:t>
            </a:r>
            <a:endParaRPr lang="en-US" sz="1700" dirty="0"/>
          </a:p>
        </p:txBody>
      </p:sp>
      <p:sp>
        <p:nvSpPr>
          <p:cNvPr id="14" name="Text 12"/>
          <p:cNvSpPr txBox="1"/>
          <p:nvPr/>
        </p:nvSpPr>
        <p:spPr>
          <a:xfrm>
            <a:off x="1051560" y="4215384"/>
            <a:ext cx="4023360" cy="274320"/>
          </a:xfrm>
          <a:prstGeom prst="rect">
            <a:avLst/>
          </a:prstGeom>
          <a:noFill/>
          <a:ln/>
        </p:spPr>
        <p:txBody>
          <a:bodyPr wrap="square" lIns="0" tIns="0" rIns="0" bIns="0" rtlCol="0" anchor="ctr"/>
          <a:lstStyle/>
          <a:p>
            <a:pPr indent="0" marL="0">
              <a:buNone/>
            </a:pPr>
            <a:r>
              <a:rPr lang="en-US" sz="1050" dirty="0">
                <a:solidFill>
                  <a:srgbClr val="9FC4DA"/>
                </a:solidFill>
                <a:latin typeface="Courier New" pitchFamily="34" charset="0"/>
                <a:ea typeface="Courier New" pitchFamily="34" charset="-122"/>
                <a:cs typeface="Courier New" pitchFamily="34" charset="-120"/>
              </a:rPr>
              <a:t>Node.js · Express · ethers.js v6</a:t>
            </a:r>
            <a:endParaRPr lang="en-US" sz="1050" dirty="0"/>
          </a:p>
        </p:txBody>
      </p:sp>
      <p:sp>
        <p:nvSpPr>
          <p:cNvPr id="15" name="Text 13"/>
          <p:cNvSpPr txBox="1"/>
          <p:nvPr/>
        </p:nvSpPr>
        <p:spPr>
          <a:xfrm>
            <a:off x="5394960" y="3959352"/>
            <a:ext cx="5760720" cy="548640"/>
          </a:xfrm>
          <a:prstGeom prst="rect">
            <a:avLst/>
          </a:prstGeom>
          <a:noFill/>
          <a:ln/>
        </p:spPr>
        <p:txBody>
          <a:bodyPr wrap="square" lIns="0" tIns="0" rIns="0" bIns="0" rtlCol="0" anchor="t"/>
          <a:lstStyle/>
          <a:p>
            <a:pPr indent="0" marL="0">
              <a:lnSpc>
                <a:spcPts val="1800"/>
              </a:lnSpc>
              <a:buNone/>
            </a:pPr>
            <a:r>
              <a:rPr lang="en-US" sz="1300" dirty="0">
                <a:solidFill>
                  <a:srgbClr val="C6DCEA"/>
                </a:solidFill>
                <a:latin typeface="Calibri" pitchFamily="34" charset="0"/>
                <a:ea typeface="Calibri" pitchFamily="34" charset="-122"/>
                <a:cs typeface="Calibri" pitchFamily="34" charset="-120"/>
              </a:rPr>
              <a:t>Membaca sumber data, memutuskan lolos atau tidak, menandatangani bukti.</a:t>
            </a:r>
            <a:endParaRPr lang="en-US" sz="1300" dirty="0"/>
          </a:p>
        </p:txBody>
      </p:sp>
      <p:sp>
        <p:nvSpPr>
          <p:cNvPr id="16" name="Shape 14"/>
          <p:cNvSpPr/>
          <p:nvPr/>
        </p:nvSpPr>
        <p:spPr>
          <a:xfrm>
            <a:off x="640080" y="4818888"/>
            <a:ext cx="10881360" cy="1005840"/>
          </a:xfrm>
          <a:prstGeom prst="roundRect">
            <a:avLst>
              <a:gd name="adj" fmla="val 7273"/>
            </a:avLst>
          </a:prstGeom>
          <a:solidFill>
            <a:srgbClr val="0B1E2F"/>
          </a:solidFill>
          <a:ln/>
        </p:spPr>
      </p:sp>
      <p:sp>
        <p:nvSpPr>
          <p:cNvPr id="17" name="Text 15"/>
          <p:cNvSpPr txBox="1"/>
          <p:nvPr/>
        </p:nvSpPr>
        <p:spPr>
          <a:xfrm>
            <a:off x="1051560" y="4965192"/>
            <a:ext cx="3566160" cy="32004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Kontrak pintar</a:t>
            </a:r>
            <a:endParaRPr lang="en-US" sz="1700" dirty="0"/>
          </a:p>
        </p:txBody>
      </p:sp>
      <p:sp>
        <p:nvSpPr>
          <p:cNvPr id="18" name="Text 16"/>
          <p:cNvSpPr txBox="1"/>
          <p:nvPr/>
        </p:nvSpPr>
        <p:spPr>
          <a:xfrm>
            <a:off x="1051560" y="5349240"/>
            <a:ext cx="4023360" cy="274320"/>
          </a:xfrm>
          <a:prstGeom prst="rect">
            <a:avLst/>
          </a:prstGeom>
          <a:noFill/>
          <a:ln/>
        </p:spPr>
        <p:txBody>
          <a:bodyPr wrap="square" lIns="0" tIns="0" rIns="0" bIns="0" rtlCol="0" anchor="ctr"/>
          <a:lstStyle/>
          <a:p>
            <a:pPr indent="0" marL="0">
              <a:buNone/>
            </a:pPr>
            <a:r>
              <a:rPr lang="en-US" sz="1050" dirty="0">
                <a:solidFill>
                  <a:srgbClr val="9FC4DA"/>
                </a:solidFill>
                <a:latin typeface="Courier New" pitchFamily="34" charset="0"/>
                <a:ea typeface="Courier New" pitchFamily="34" charset="-122"/>
                <a:cs typeface="Courier New" pitchFamily="34" charset="-120"/>
              </a:rPr>
              <a:t>Solidity 0.8.20 · OpenZeppelin · Polygon</a:t>
            </a:r>
            <a:endParaRPr lang="en-US" sz="1050" dirty="0"/>
          </a:p>
        </p:txBody>
      </p:sp>
      <p:sp>
        <p:nvSpPr>
          <p:cNvPr id="19" name="Text 17"/>
          <p:cNvSpPr txBox="1"/>
          <p:nvPr/>
        </p:nvSpPr>
        <p:spPr>
          <a:xfrm>
            <a:off x="5394960" y="5093208"/>
            <a:ext cx="5760720" cy="548640"/>
          </a:xfrm>
          <a:prstGeom prst="rect">
            <a:avLst/>
          </a:prstGeom>
          <a:noFill/>
          <a:ln/>
        </p:spPr>
        <p:txBody>
          <a:bodyPr wrap="square" lIns="0" tIns="0" rIns="0" bIns="0" rtlCol="0" anchor="t"/>
          <a:lstStyle/>
          <a:p>
            <a:pPr indent="0" marL="0">
              <a:lnSpc>
                <a:spcPts val="1800"/>
              </a:lnSpc>
              <a:buNone/>
            </a:pPr>
            <a:r>
              <a:rPr lang="en-US" sz="1300" dirty="0">
                <a:solidFill>
                  <a:srgbClr val="C6DCEA"/>
                </a:solidFill>
                <a:latin typeface="Calibri" pitchFamily="34" charset="0"/>
                <a:ea typeface="Calibri" pitchFamily="34" charset="-122"/>
                <a:cs typeface="Calibri" pitchFamily="34" charset="-120"/>
              </a:rPr>
              <a:t>Memegang dana dan menegakkan aturan. Ini satu-satunya sumber kebenaran.</a:t>
            </a:r>
            <a:endParaRPr lang="en-US" sz="1300" dirty="0"/>
          </a:p>
        </p:txBody>
      </p:sp>
      <p:sp>
        <p:nvSpPr>
          <p:cNvPr id="20" name="Text 18"/>
          <p:cNvSpPr txBox="1"/>
          <p:nvPr/>
        </p:nvSpPr>
        <p:spPr>
          <a:xfrm>
            <a:off x="640080" y="6035040"/>
            <a:ext cx="10881360" cy="365760"/>
          </a:xfrm>
          <a:prstGeom prst="rect">
            <a:avLst/>
          </a:prstGeom>
          <a:noFill/>
          <a:ln/>
        </p:spPr>
        <p:txBody>
          <a:bodyPr wrap="square" lIns="0" tIns="0" rIns="0" bIns="0" rtlCol="0" anchor="ctr"/>
          <a:lstStyle/>
          <a:p>
            <a:pPr indent="0" marL="0">
              <a:buNone/>
            </a:pPr>
            <a:r>
              <a:rPr lang="en-US" sz="1200" dirty="0">
                <a:solidFill>
                  <a:srgbClr val="6E8CA3"/>
                </a:solidFill>
                <a:latin typeface="Calibri" pitchFamily="34" charset="0"/>
                <a:ea typeface="Calibri" pitchFamily="34" charset="-122"/>
                <a:cs typeface="Calibri" pitchFamily="34" charset="-120"/>
              </a:rPr>
              <a:t>Setiap lapis hanya boleh meminta ke lapis di bawahnya. Kontrak tidak pernah memanggil ke atas.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CATATAN TEKNIS</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Sistem ini ditulis dengan bahasa apa</a:t>
            </a:r>
            <a:endParaRPr lang="en-US" sz="3400" dirty="0"/>
          </a:p>
        </p:txBody>
      </p:sp>
      <p:graphicFrame>
        <p:nvGraphicFramePr>
          <p:cNvPr id="4" name="Chart 0" descr=""/>
          <p:cNvGraphicFramePr/>
          <p:nvPr/>
        </p:nvGraphicFramePr>
        <p:xfrm>
          <a:off x="640080" y="146304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600200"/>
            <a:ext cx="4572000" cy="1207008"/>
          </a:xfrm>
          <a:prstGeom prst="roundRect">
            <a:avLst>
              <a:gd name="adj" fmla="val 6061"/>
            </a:avLst>
          </a:prstGeom>
          <a:solidFill>
            <a:srgbClr val="F1F5F8"/>
          </a:solidFill>
          <a:ln/>
        </p:spPr>
      </p:sp>
      <p:sp>
        <p:nvSpPr>
          <p:cNvPr id="6" name="Text 3"/>
          <p:cNvSpPr txBox="1"/>
          <p:nvPr/>
        </p:nvSpPr>
        <p:spPr>
          <a:xfrm>
            <a:off x="7269480" y="1746504"/>
            <a:ext cx="3931920" cy="292608"/>
          </a:xfrm>
          <a:prstGeom prst="rect">
            <a:avLst/>
          </a:prstGeom>
          <a:noFill/>
          <a:ln/>
        </p:spPr>
        <p:txBody>
          <a:bodyPr wrap="square" lIns="0" tIns="0" rIns="0" bIns="0" rtlCol="0" anchor="t"/>
          <a:lstStyle/>
          <a:p>
            <a:pPr indent="0" marL="0">
              <a:buNone/>
            </a:pPr>
            <a:r>
              <a:rPr lang="en-US" sz="1500" b="1" dirty="0">
                <a:solidFill>
                  <a:srgbClr val="0F2942"/>
                </a:solidFill>
                <a:latin typeface="Cambria" pitchFamily="34" charset="0"/>
                <a:ea typeface="Cambria" pitchFamily="34" charset="-122"/>
                <a:cs typeface="Cambria" pitchFamily="34" charset="-120"/>
              </a:rPr>
              <a:t>Solidity</a:t>
            </a:r>
            <a:endParaRPr lang="en-US" sz="1500" dirty="0"/>
          </a:p>
        </p:txBody>
      </p:sp>
      <p:sp>
        <p:nvSpPr>
          <p:cNvPr id="7" name="Text 4"/>
          <p:cNvSpPr txBox="1"/>
          <p:nvPr/>
        </p:nvSpPr>
        <p:spPr>
          <a:xfrm>
            <a:off x="7269480" y="2093976"/>
            <a:ext cx="3931920" cy="640080"/>
          </a:xfrm>
          <a:prstGeom prst="rect">
            <a:avLst/>
          </a:prstGeom>
          <a:noFill/>
          <a:ln/>
        </p:spPr>
        <p:txBody>
          <a:bodyPr wrap="square" lIns="0" tIns="0" rIns="0" bIns="0" rtlCol="0" anchor="t"/>
          <a:lstStyle/>
          <a:p>
            <a:pPr indent="0" marL="0">
              <a:lnSpc>
                <a:spcPts val="1500"/>
              </a:lnSpc>
              <a:buNone/>
            </a:pPr>
            <a:r>
              <a:rPr lang="en-US" sz="1150" dirty="0">
                <a:solidFill>
                  <a:srgbClr val="5A6B78"/>
                </a:solidFill>
                <a:latin typeface="Calibri" pitchFamily="34" charset="0"/>
                <a:ea typeface="Calibri" pitchFamily="34" charset="-122"/>
                <a:cs typeface="Calibri" pitchFamily="34" charset="-120"/>
              </a:rPr>
              <a:t>Bahasa kontrak pintar Ethereum. Dipakai hanya untuk aturan uang: siapa boleh apa, kapan dana boleh pindah.</a:t>
            </a:r>
            <a:endParaRPr lang="en-US" sz="1150" dirty="0"/>
          </a:p>
        </p:txBody>
      </p:sp>
      <p:sp>
        <p:nvSpPr>
          <p:cNvPr id="8" name="Shape 5"/>
          <p:cNvSpPr/>
          <p:nvPr/>
        </p:nvSpPr>
        <p:spPr>
          <a:xfrm>
            <a:off x="6949440" y="2971800"/>
            <a:ext cx="4572000" cy="1207008"/>
          </a:xfrm>
          <a:prstGeom prst="roundRect">
            <a:avLst>
              <a:gd name="adj" fmla="val 6061"/>
            </a:avLst>
          </a:prstGeom>
          <a:solidFill>
            <a:srgbClr val="F1F5F8"/>
          </a:solidFill>
          <a:ln/>
        </p:spPr>
      </p:sp>
      <p:sp>
        <p:nvSpPr>
          <p:cNvPr id="9" name="Text 6"/>
          <p:cNvSpPr txBox="1"/>
          <p:nvPr/>
        </p:nvSpPr>
        <p:spPr>
          <a:xfrm>
            <a:off x="7269480" y="3118104"/>
            <a:ext cx="3931920" cy="292608"/>
          </a:xfrm>
          <a:prstGeom prst="rect">
            <a:avLst/>
          </a:prstGeom>
          <a:noFill/>
          <a:ln/>
        </p:spPr>
        <p:txBody>
          <a:bodyPr wrap="square" lIns="0" tIns="0" rIns="0" bIns="0" rtlCol="0" anchor="t"/>
          <a:lstStyle/>
          <a:p>
            <a:pPr indent="0" marL="0">
              <a:buNone/>
            </a:pPr>
            <a:r>
              <a:rPr lang="en-US" sz="1500" b="1" dirty="0">
                <a:solidFill>
                  <a:srgbClr val="0F2942"/>
                </a:solidFill>
                <a:latin typeface="Cambria" pitchFamily="34" charset="0"/>
                <a:ea typeface="Cambria" pitchFamily="34" charset="-122"/>
                <a:cs typeface="Cambria" pitchFamily="34" charset="-120"/>
              </a:rPr>
              <a:t>JavaScript</a:t>
            </a:r>
            <a:endParaRPr lang="en-US" sz="1500" dirty="0"/>
          </a:p>
        </p:txBody>
      </p:sp>
      <p:sp>
        <p:nvSpPr>
          <p:cNvPr id="10" name="Text 7"/>
          <p:cNvSpPr txBox="1"/>
          <p:nvPr/>
        </p:nvSpPr>
        <p:spPr>
          <a:xfrm>
            <a:off x="7269480" y="3465576"/>
            <a:ext cx="3931920" cy="640080"/>
          </a:xfrm>
          <a:prstGeom prst="rect">
            <a:avLst/>
          </a:prstGeom>
          <a:noFill/>
          <a:ln/>
        </p:spPr>
        <p:txBody>
          <a:bodyPr wrap="square" lIns="0" tIns="0" rIns="0" bIns="0" rtlCol="0" anchor="t"/>
          <a:lstStyle/>
          <a:p>
            <a:pPr indent="0" marL="0">
              <a:lnSpc>
                <a:spcPts val="1500"/>
              </a:lnSpc>
              <a:buNone/>
            </a:pPr>
            <a:r>
              <a:rPr lang="en-US" sz="1150" dirty="0">
                <a:solidFill>
                  <a:srgbClr val="5A6B78"/>
                </a:solidFill>
                <a:latin typeface="Calibri" pitchFamily="34" charset="0"/>
                <a:ea typeface="Calibri" pitchFamily="34" charset="-122"/>
                <a:cs typeface="Calibri" pitchFamily="34" charset="-120"/>
              </a:rPr>
              <a:t>Satu bahasa untuk gerbang oracle dan antarmuka. Satu tim bisa mengerjakan keduanya tanpa berganti bahasa.</a:t>
            </a:r>
            <a:endParaRPr lang="en-US" sz="1150" dirty="0"/>
          </a:p>
        </p:txBody>
      </p:sp>
      <p:sp>
        <p:nvSpPr>
          <p:cNvPr id="11" name="Shape 8"/>
          <p:cNvSpPr/>
          <p:nvPr/>
        </p:nvSpPr>
        <p:spPr>
          <a:xfrm>
            <a:off x="6949440" y="4343400"/>
            <a:ext cx="4572000" cy="1207008"/>
          </a:xfrm>
          <a:prstGeom prst="roundRect">
            <a:avLst>
              <a:gd name="adj" fmla="val 6061"/>
            </a:avLst>
          </a:prstGeom>
          <a:solidFill>
            <a:srgbClr val="F1F5F8"/>
          </a:solidFill>
          <a:ln/>
        </p:spPr>
      </p:sp>
      <p:sp>
        <p:nvSpPr>
          <p:cNvPr id="12" name="Text 9"/>
          <p:cNvSpPr txBox="1"/>
          <p:nvPr/>
        </p:nvSpPr>
        <p:spPr>
          <a:xfrm>
            <a:off x="7269480" y="4489704"/>
            <a:ext cx="3931920" cy="292608"/>
          </a:xfrm>
          <a:prstGeom prst="rect">
            <a:avLst/>
          </a:prstGeom>
          <a:noFill/>
          <a:ln/>
        </p:spPr>
        <p:txBody>
          <a:bodyPr wrap="square" lIns="0" tIns="0" rIns="0" bIns="0" rtlCol="0" anchor="t"/>
          <a:lstStyle/>
          <a:p>
            <a:pPr indent="0" marL="0">
              <a:buNone/>
            </a:pPr>
            <a:r>
              <a:rPr lang="en-US" sz="1500" b="1" dirty="0">
                <a:solidFill>
                  <a:srgbClr val="0F2942"/>
                </a:solidFill>
                <a:latin typeface="Cambria" pitchFamily="34" charset="0"/>
                <a:ea typeface="Cambria" pitchFamily="34" charset="-122"/>
                <a:cs typeface="Cambria" pitchFamily="34" charset="-120"/>
              </a:rPr>
              <a:t>Kenapa bukan yang lain</a:t>
            </a:r>
            <a:endParaRPr lang="en-US" sz="1500" dirty="0"/>
          </a:p>
        </p:txBody>
      </p:sp>
      <p:sp>
        <p:nvSpPr>
          <p:cNvPr id="13" name="Text 10"/>
          <p:cNvSpPr txBox="1"/>
          <p:nvPr/>
        </p:nvSpPr>
        <p:spPr>
          <a:xfrm>
            <a:off x="7269480" y="4837176"/>
            <a:ext cx="3931920" cy="640080"/>
          </a:xfrm>
          <a:prstGeom prst="rect">
            <a:avLst/>
          </a:prstGeom>
          <a:noFill/>
          <a:ln/>
        </p:spPr>
        <p:txBody>
          <a:bodyPr wrap="square" lIns="0" tIns="0" rIns="0" bIns="0" rtlCol="0" anchor="t"/>
          <a:lstStyle/>
          <a:p>
            <a:pPr indent="0" marL="0">
              <a:lnSpc>
                <a:spcPts val="1500"/>
              </a:lnSpc>
              <a:buNone/>
            </a:pPr>
            <a:r>
              <a:rPr lang="en-US" sz="1150" dirty="0">
                <a:solidFill>
                  <a:srgbClr val="5A6B78"/>
                </a:solidFill>
                <a:latin typeface="Calibri" pitchFamily="34" charset="0"/>
                <a:ea typeface="Calibri" pitchFamily="34" charset="-122"/>
                <a:cs typeface="Calibri" pitchFamily="34" charset="-120"/>
              </a:rPr>
              <a:t>Solidity karena tidak ada pilihan lain di rantai EVM. JavaScript karena pustaka Web3 yang matang ada di sana.</a:t>
            </a:r>
            <a:endParaRPr lang="en-US" sz="1150" dirty="0"/>
          </a:p>
        </p:txBody>
      </p:sp>
      <p:sp>
        <p:nvSpPr>
          <p:cNvPr id="14" name="Text 11"/>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200" dirty="0">
                <a:solidFill>
                  <a:srgbClr val="5A6B78"/>
                </a:solidFill>
                <a:latin typeface="Calibri" pitchFamily="34" charset="0"/>
                <a:ea typeface="Calibri" pitchFamily="34" charset="-122"/>
                <a:cs typeface="Calibri" pitchFamily="34" charset="-120"/>
              </a:rPr>
              <a:t>Total ± 11.000 baris kode buatan sendiri, di luar pustaka pihak ketiga.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CATATAN TEKNIS</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Kenapa dipilih yang ini</a:t>
            </a:r>
            <a:endParaRPr lang="en-US" sz="3400" dirty="0"/>
          </a:p>
        </p:txBody>
      </p:sp>
      <p:sp>
        <p:nvSpPr>
          <p:cNvPr id="4" name="Shape 2"/>
          <p:cNvSpPr/>
          <p:nvPr/>
        </p:nvSpPr>
        <p:spPr>
          <a:xfrm>
            <a:off x="640080" y="1463040"/>
            <a:ext cx="512064" cy="512064"/>
          </a:xfrm>
          <a:prstGeom prst="ellipse">
            <a:avLst/>
          </a:prstGeom>
          <a:solidFill>
            <a:srgbClr val="1C7293"/>
          </a:solidFill>
          <a:ln/>
        </p:spPr>
      </p:sp>
      <p:sp>
        <p:nvSpPr>
          <p:cNvPr id="5" name="Text 3"/>
          <p:cNvSpPr txBox="1"/>
          <p:nvPr/>
        </p:nvSpPr>
        <p:spPr>
          <a:xfrm>
            <a:off x="640080" y="14630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371600" y="1435608"/>
            <a:ext cx="3931920" cy="457200"/>
          </a:xfrm>
          <a:prstGeom prst="rect">
            <a:avLst/>
          </a:prstGeom>
          <a:noFill/>
          <a:ln/>
        </p:spPr>
        <p:txBody>
          <a:bodyPr wrap="square" lIns="0" tIns="0" rIns="0" bIns="0" rtlCol="0" anchor="t"/>
          <a:lstStyle/>
          <a:p>
            <a:pPr indent="0" marL="0">
              <a:buNone/>
            </a:pPr>
            <a:r>
              <a:rPr lang="en-US" sz="1600" b="1" dirty="0">
                <a:solidFill>
                  <a:srgbClr val="0F2942"/>
                </a:solidFill>
                <a:latin typeface="Cambria" pitchFamily="34" charset="0"/>
                <a:ea typeface="Cambria" pitchFamily="34" charset="-122"/>
                <a:cs typeface="Cambria" pitchFamily="34" charset="-120"/>
              </a:rPr>
              <a:t>Polygon Amoy</a:t>
            </a:r>
            <a:endParaRPr lang="en-US" sz="1600" dirty="0"/>
          </a:p>
        </p:txBody>
      </p:sp>
      <p:sp>
        <p:nvSpPr>
          <p:cNvPr id="7" name="Text 5"/>
          <p:cNvSpPr txBox="1"/>
          <p:nvPr/>
        </p:nvSpPr>
        <p:spPr>
          <a:xfrm>
            <a:off x="5394960" y="1435608"/>
            <a:ext cx="6126480" cy="86868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Jaringan uji yang setara EVM. Biaya transaksi kecil dan waktu blok dua detik — penting karena satu kontrak dagang menghasilkan banyak transaksi.</a:t>
            </a:r>
            <a:endParaRPr lang="en-US" sz="1300" dirty="0"/>
          </a:p>
        </p:txBody>
      </p:sp>
      <p:sp>
        <p:nvSpPr>
          <p:cNvPr id="8" name="Shape 6"/>
          <p:cNvSpPr/>
          <p:nvPr/>
        </p:nvSpPr>
        <p:spPr>
          <a:xfrm>
            <a:off x="1371600" y="2386584"/>
            <a:ext cx="10149840" cy="9144"/>
          </a:xfrm>
          <a:prstGeom prst="rect">
            <a:avLst/>
          </a:prstGeom>
          <a:solidFill>
            <a:srgbClr val="D9E1E7"/>
          </a:solidFill>
          <a:ln/>
        </p:spPr>
      </p:sp>
      <p:sp>
        <p:nvSpPr>
          <p:cNvPr id="9" name="Shape 7"/>
          <p:cNvSpPr/>
          <p:nvPr/>
        </p:nvSpPr>
        <p:spPr>
          <a:xfrm>
            <a:off x="640080" y="2560320"/>
            <a:ext cx="512064" cy="512064"/>
          </a:xfrm>
          <a:prstGeom prst="ellipse">
            <a:avLst/>
          </a:prstGeom>
          <a:solidFill>
            <a:srgbClr val="2E93B5"/>
          </a:solidFill>
          <a:ln/>
        </p:spPr>
      </p:sp>
      <p:sp>
        <p:nvSpPr>
          <p:cNvPr id="10" name="Text 8"/>
          <p:cNvSpPr txBox="1"/>
          <p:nvPr/>
        </p:nvSpPr>
        <p:spPr>
          <a:xfrm>
            <a:off x="640080" y="25603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371600" y="2532888"/>
            <a:ext cx="3931920" cy="457200"/>
          </a:xfrm>
          <a:prstGeom prst="rect">
            <a:avLst/>
          </a:prstGeom>
          <a:noFill/>
          <a:ln/>
        </p:spPr>
        <p:txBody>
          <a:bodyPr wrap="square" lIns="0" tIns="0" rIns="0" bIns="0" rtlCol="0" anchor="t"/>
          <a:lstStyle/>
          <a:p>
            <a:pPr indent="0" marL="0">
              <a:buNone/>
            </a:pPr>
            <a:r>
              <a:rPr lang="en-US" sz="1600" b="1" dirty="0">
                <a:solidFill>
                  <a:srgbClr val="0F2942"/>
                </a:solidFill>
                <a:latin typeface="Cambria" pitchFamily="34" charset="0"/>
                <a:ea typeface="Cambria" pitchFamily="34" charset="-122"/>
                <a:cs typeface="Cambria" pitchFamily="34" charset="-120"/>
              </a:rPr>
              <a:t>OpenZeppelin</a:t>
            </a:r>
            <a:endParaRPr lang="en-US" sz="1600" dirty="0"/>
          </a:p>
        </p:txBody>
      </p:sp>
      <p:sp>
        <p:nvSpPr>
          <p:cNvPr id="12" name="Text 10"/>
          <p:cNvSpPr txBox="1"/>
          <p:nvPr/>
        </p:nvSpPr>
        <p:spPr>
          <a:xfrm>
            <a:off x="5394960" y="2532888"/>
            <a:ext cx="6126480" cy="86868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Pustaka kontrak yang sudah diaudit luas. AccessControl, Pausable, dan ReentrancyGuard dipakai apa adanya — bagian paling rawan tidak ditulis sendiri.</a:t>
            </a:r>
            <a:endParaRPr lang="en-US" sz="1300" dirty="0"/>
          </a:p>
        </p:txBody>
      </p:sp>
      <p:sp>
        <p:nvSpPr>
          <p:cNvPr id="13" name="Shape 11"/>
          <p:cNvSpPr/>
          <p:nvPr/>
        </p:nvSpPr>
        <p:spPr>
          <a:xfrm>
            <a:off x="1371600" y="3483864"/>
            <a:ext cx="10149840" cy="9144"/>
          </a:xfrm>
          <a:prstGeom prst="rect">
            <a:avLst/>
          </a:prstGeom>
          <a:solidFill>
            <a:srgbClr val="D9E1E7"/>
          </a:solidFill>
          <a:ln/>
        </p:spPr>
      </p:sp>
      <p:sp>
        <p:nvSpPr>
          <p:cNvPr id="14" name="Shape 12"/>
          <p:cNvSpPr/>
          <p:nvPr/>
        </p:nvSpPr>
        <p:spPr>
          <a:xfrm>
            <a:off x="640080" y="3657600"/>
            <a:ext cx="512064" cy="512064"/>
          </a:xfrm>
          <a:prstGeom prst="ellipse">
            <a:avLst/>
          </a:prstGeom>
          <a:solidFill>
            <a:srgbClr val="1B3E5C"/>
          </a:solidFill>
          <a:ln/>
        </p:spPr>
      </p:sp>
      <p:sp>
        <p:nvSpPr>
          <p:cNvPr id="15" name="Text 13"/>
          <p:cNvSpPr txBox="1"/>
          <p:nvPr/>
        </p:nvSpPr>
        <p:spPr>
          <a:xfrm>
            <a:off x="640080" y="365760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371600" y="3630168"/>
            <a:ext cx="3931920" cy="457200"/>
          </a:xfrm>
          <a:prstGeom prst="rect">
            <a:avLst/>
          </a:prstGeom>
          <a:noFill/>
          <a:ln/>
        </p:spPr>
        <p:txBody>
          <a:bodyPr wrap="square" lIns="0" tIns="0" rIns="0" bIns="0" rtlCol="0" anchor="t"/>
          <a:lstStyle/>
          <a:p>
            <a:pPr indent="0" marL="0">
              <a:buNone/>
            </a:pPr>
            <a:r>
              <a:rPr lang="en-US" sz="1600" b="1" dirty="0">
                <a:solidFill>
                  <a:srgbClr val="0F2942"/>
                </a:solidFill>
                <a:latin typeface="Cambria" pitchFamily="34" charset="0"/>
                <a:ea typeface="Cambria" pitchFamily="34" charset="-122"/>
                <a:cs typeface="Cambria" pitchFamily="34" charset="-120"/>
              </a:rPr>
              <a:t>ERC-4337 (account abstraction)</a:t>
            </a:r>
            <a:endParaRPr lang="en-US" sz="1600" dirty="0"/>
          </a:p>
        </p:txBody>
      </p:sp>
      <p:sp>
        <p:nvSpPr>
          <p:cNvPr id="17" name="Text 15"/>
          <p:cNvSpPr txBox="1"/>
          <p:nvPr/>
        </p:nvSpPr>
        <p:spPr>
          <a:xfrm>
            <a:off x="5394960" y="3630168"/>
            <a:ext cx="6126480" cy="86868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Membuat pengguna bisa masuk dengan akun Google tanpa pernah menyentuh frasa pemulihan, dan biaya gas ditalangi pihak lain.</a:t>
            </a:r>
            <a:endParaRPr lang="en-US" sz="1300" dirty="0"/>
          </a:p>
        </p:txBody>
      </p:sp>
      <p:sp>
        <p:nvSpPr>
          <p:cNvPr id="18" name="Shape 16"/>
          <p:cNvSpPr/>
          <p:nvPr/>
        </p:nvSpPr>
        <p:spPr>
          <a:xfrm>
            <a:off x="1371600" y="4581144"/>
            <a:ext cx="10149840" cy="9144"/>
          </a:xfrm>
          <a:prstGeom prst="rect">
            <a:avLst/>
          </a:prstGeom>
          <a:solidFill>
            <a:srgbClr val="D9E1E7"/>
          </a:solidFill>
          <a:ln/>
        </p:spPr>
      </p:sp>
      <p:sp>
        <p:nvSpPr>
          <p:cNvPr id="19" name="Shape 17"/>
          <p:cNvSpPr/>
          <p:nvPr/>
        </p:nvSpPr>
        <p:spPr>
          <a:xfrm>
            <a:off x="640080" y="4754880"/>
            <a:ext cx="512064" cy="512064"/>
          </a:xfrm>
          <a:prstGeom prst="ellipse">
            <a:avLst/>
          </a:prstGeom>
          <a:solidFill>
            <a:srgbClr val="0F2942"/>
          </a:solidFill>
          <a:ln/>
        </p:spPr>
      </p:sp>
      <p:sp>
        <p:nvSpPr>
          <p:cNvPr id="20" name="Text 18"/>
          <p:cNvSpPr txBox="1"/>
          <p:nvPr/>
        </p:nvSpPr>
        <p:spPr>
          <a:xfrm>
            <a:off x="640080" y="475488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1371600" y="4727448"/>
            <a:ext cx="3931920" cy="457200"/>
          </a:xfrm>
          <a:prstGeom prst="rect">
            <a:avLst/>
          </a:prstGeom>
          <a:noFill/>
          <a:ln/>
        </p:spPr>
        <p:txBody>
          <a:bodyPr wrap="square" lIns="0" tIns="0" rIns="0" bIns="0" rtlCol="0" anchor="t"/>
          <a:lstStyle/>
          <a:p>
            <a:pPr indent="0" marL="0">
              <a:buNone/>
            </a:pPr>
            <a:r>
              <a:rPr lang="en-US" sz="1600" b="1" dirty="0">
                <a:solidFill>
                  <a:srgbClr val="0F2942"/>
                </a:solidFill>
                <a:latin typeface="Cambria" pitchFamily="34" charset="0"/>
                <a:ea typeface="Cambria" pitchFamily="34" charset="-122"/>
                <a:cs typeface="Cambria" pitchFamily="34" charset="-120"/>
              </a:rPr>
              <a:t>Token IDRT (demo)</a:t>
            </a:r>
            <a:endParaRPr lang="en-US" sz="1600" dirty="0"/>
          </a:p>
        </p:txBody>
      </p:sp>
      <p:sp>
        <p:nvSpPr>
          <p:cNvPr id="22" name="Text 20"/>
          <p:cNvSpPr txBox="1"/>
          <p:nvPr/>
        </p:nvSpPr>
        <p:spPr>
          <a:xfrm>
            <a:off x="5394960" y="4727448"/>
            <a:ext cx="6126480" cy="86868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Rupiah digital berstandar ERC-20 dengan dua angka desimal, sehingga nilai kontrak dicatat dalam rupiah dan sen, bukan dalam mata uang kripto.</a:t>
            </a:r>
            <a:endParaRPr lang="en-US" sz="1300" dirty="0"/>
          </a:p>
        </p:txBody>
      </p:sp>
      <p:sp>
        <p:nvSpPr>
          <p:cNvPr id="23" name="Shape 21"/>
          <p:cNvSpPr/>
          <p:nvPr/>
        </p:nvSpPr>
        <p:spPr>
          <a:xfrm>
            <a:off x="640080" y="5852160"/>
            <a:ext cx="10881360" cy="594360"/>
          </a:xfrm>
          <a:prstGeom prst="roundRect">
            <a:avLst>
              <a:gd name="adj" fmla="val 12308"/>
            </a:avLst>
          </a:prstGeom>
          <a:solidFill>
            <a:srgbClr val="0F2942"/>
          </a:solidFill>
          <a:ln/>
        </p:spPr>
      </p:sp>
      <p:sp>
        <p:nvSpPr>
          <p:cNvPr id="24" name="Text 22"/>
          <p:cNvSpPr txBox="1"/>
          <p:nvPr/>
        </p:nvSpPr>
        <p:spPr>
          <a:xfrm>
            <a:off x="1051560" y="6016752"/>
            <a:ext cx="10058400" cy="320040"/>
          </a:xfrm>
          <a:prstGeom prst="rect">
            <a:avLst/>
          </a:prstGeom>
          <a:noFill/>
          <a:ln/>
        </p:spPr>
        <p:txBody>
          <a:bodyPr wrap="square" lIns="0" tIns="0" rIns="0" bIns="0" rtlCol="0" anchor="t"/>
          <a:lstStyle/>
          <a:p>
            <a:pPr indent="0" marL="0">
              <a:lnSpc>
                <a:spcPts val="2000"/>
              </a:lnSpc>
              <a:buNone/>
            </a:pPr>
            <a:r>
              <a:rPr lang="en-US" sz="1300" dirty="0">
                <a:solidFill>
                  <a:srgbClr val="BBD3E2"/>
                </a:solidFill>
                <a:latin typeface="Calibri" pitchFamily="34" charset="0"/>
                <a:ea typeface="Calibri" pitchFamily="34" charset="-122"/>
                <a:cs typeface="Calibri" pitchFamily="34" charset="-120"/>
              </a:rPr>
              <a:t>Semua yang di atas berjalan di jaringan uji. Nilai yang berpindah adalah token demo, bukan rupiah sungguhan.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PERAGAAN</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Yang akan Anda lihat sebentar lagi</a:t>
            </a:r>
            <a:endParaRPr lang="en-US" sz="3400" dirty="0"/>
          </a:p>
        </p:txBody>
      </p:sp>
      <p:sp>
        <p:nvSpPr>
          <p:cNvPr id="4" name="Shape 2"/>
          <p:cNvSpPr/>
          <p:nvPr/>
        </p:nvSpPr>
        <p:spPr>
          <a:xfrm>
            <a:off x="640080" y="1600200"/>
            <a:ext cx="530352" cy="530352"/>
          </a:xfrm>
          <a:prstGeom prst="ellipse">
            <a:avLst/>
          </a:prstGeom>
          <a:solidFill>
            <a:srgbClr val="1C7293"/>
          </a:solidFill>
          <a:ln/>
        </p:spPr>
      </p:sp>
      <p:sp>
        <p:nvSpPr>
          <p:cNvPr id="5" name="Text 3"/>
          <p:cNvSpPr txBox="1"/>
          <p:nvPr/>
        </p:nvSpPr>
        <p:spPr>
          <a:xfrm>
            <a:off x="640080" y="16002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353312" y="1554480"/>
            <a:ext cx="4663440" cy="365760"/>
          </a:xfrm>
          <a:prstGeom prst="rect">
            <a:avLst/>
          </a:prstGeom>
          <a:noFill/>
          <a:ln/>
        </p:spPr>
        <p:txBody>
          <a:bodyPr wrap="square" lIns="0" tIns="0" rIns="0" bIns="0" rtlCol="0" anchor="t"/>
          <a:lstStyle/>
          <a:p>
            <a:pPr indent="0" marL="0">
              <a:buNone/>
            </a:pPr>
            <a:r>
              <a:rPr lang="en-US" sz="1550" b="1" dirty="0">
                <a:solidFill>
                  <a:srgbClr val="0F2942"/>
                </a:solidFill>
                <a:latin typeface="Cambria" pitchFamily="34" charset="0"/>
                <a:ea typeface="Cambria" pitchFamily="34" charset="-122"/>
                <a:cs typeface="Cambria" pitchFamily="34" charset="-120"/>
              </a:rPr>
              <a:t>Masuk dengan akun Google</a:t>
            </a:r>
            <a:endParaRPr lang="en-US" sz="1550" dirty="0"/>
          </a:p>
        </p:txBody>
      </p:sp>
      <p:sp>
        <p:nvSpPr>
          <p:cNvPr id="7" name="Text 5"/>
          <p:cNvSpPr txBox="1"/>
          <p:nvPr/>
        </p:nvSpPr>
        <p:spPr>
          <a:xfrm>
            <a:off x="1353312" y="194767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Dompet terbentuk sendiri. Tidak ada frasa pemulihan yang harus dicatat.</a:t>
            </a:r>
            <a:endParaRPr lang="en-US" sz="1250" dirty="0"/>
          </a:p>
        </p:txBody>
      </p:sp>
      <p:sp>
        <p:nvSpPr>
          <p:cNvPr id="8" name="Shape 6"/>
          <p:cNvSpPr/>
          <p:nvPr/>
        </p:nvSpPr>
        <p:spPr>
          <a:xfrm>
            <a:off x="6263640" y="1600200"/>
            <a:ext cx="530352" cy="530352"/>
          </a:xfrm>
          <a:prstGeom prst="ellipse">
            <a:avLst/>
          </a:prstGeom>
          <a:solidFill>
            <a:srgbClr val="1C7293"/>
          </a:solidFill>
          <a:ln/>
        </p:spPr>
      </p:sp>
      <p:sp>
        <p:nvSpPr>
          <p:cNvPr id="9" name="Text 7"/>
          <p:cNvSpPr txBox="1"/>
          <p:nvPr/>
        </p:nvSpPr>
        <p:spPr>
          <a:xfrm>
            <a:off x="6263640" y="160020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6976872" y="1554480"/>
            <a:ext cx="4663440" cy="365760"/>
          </a:xfrm>
          <a:prstGeom prst="rect">
            <a:avLst/>
          </a:prstGeom>
          <a:noFill/>
          <a:ln/>
        </p:spPr>
        <p:txBody>
          <a:bodyPr wrap="square" lIns="0" tIns="0" rIns="0" bIns="0" rtlCol="0" anchor="t"/>
          <a:lstStyle/>
          <a:p>
            <a:pPr indent="0" marL="0">
              <a:buNone/>
            </a:pPr>
            <a:r>
              <a:rPr lang="en-US" sz="1550" b="1" dirty="0">
                <a:solidFill>
                  <a:srgbClr val="0F2942"/>
                </a:solidFill>
                <a:latin typeface="Cambria" pitchFamily="34" charset="0"/>
                <a:ea typeface="Cambria" pitchFamily="34" charset="-122"/>
                <a:cs typeface="Cambria" pitchFamily="34" charset="-120"/>
              </a:rPr>
              <a:t>Buat kontrak dan kunci dana</a:t>
            </a:r>
            <a:endParaRPr lang="en-US" sz="1550" dirty="0"/>
          </a:p>
        </p:txBody>
      </p:sp>
      <p:sp>
        <p:nvSpPr>
          <p:cNvPr id="11" name="Text 9"/>
          <p:cNvSpPr txBox="1"/>
          <p:nvPr/>
        </p:nvSpPr>
        <p:spPr>
          <a:xfrm>
            <a:off x="6976872" y="194767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Isi komoditas, nilai, dan tenggat. Dana berpindah ke kontrak di depan mata Anda.</a:t>
            </a:r>
            <a:endParaRPr lang="en-US" sz="1250" dirty="0"/>
          </a:p>
        </p:txBody>
      </p:sp>
      <p:sp>
        <p:nvSpPr>
          <p:cNvPr id="12" name="Shape 10"/>
          <p:cNvSpPr/>
          <p:nvPr/>
        </p:nvSpPr>
        <p:spPr>
          <a:xfrm>
            <a:off x="640080" y="3063240"/>
            <a:ext cx="530352" cy="530352"/>
          </a:xfrm>
          <a:prstGeom prst="ellipse">
            <a:avLst/>
          </a:prstGeom>
          <a:solidFill>
            <a:srgbClr val="1C7293"/>
          </a:solidFill>
          <a:ln/>
        </p:spPr>
      </p:sp>
      <p:sp>
        <p:nvSpPr>
          <p:cNvPr id="13" name="Text 11"/>
          <p:cNvSpPr txBox="1"/>
          <p:nvPr/>
        </p:nvSpPr>
        <p:spPr>
          <a:xfrm>
            <a:off x="640080" y="306324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353312" y="3017520"/>
            <a:ext cx="4663440" cy="365760"/>
          </a:xfrm>
          <a:prstGeom prst="rect">
            <a:avLst/>
          </a:prstGeom>
          <a:noFill/>
          <a:ln/>
        </p:spPr>
        <p:txBody>
          <a:bodyPr wrap="square" lIns="0" tIns="0" rIns="0" bIns="0" rtlCol="0" anchor="t"/>
          <a:lstStyle/>
          <a:p>
            <a:pPr indent="0" marL="0">
              <a:buNone/>
            </a:pPr>
            <a:r>
              <a:rPr lang="en-US" sz="1550" b="1" dirty="0">
                <a:solidFill>
                  <a:srgbClr val="0F2942"/>
                </a:solidFill>
                <a:latin typeface="Cambria" pitchFamily="34" charset="0"/>
                <a:ea typeface="Cambria" pitchFamily="34" charset="-122"/>
                <a:cs typeface="Cambria" pitchFamily="34" charset="-120"/>
              </a:rPr>
              <a:t>Jalankan verifikasi tiga milestone</a:t>
            </a:r>
            <a:endParaRPr lang="en-US" sz="1550" dirty="0"/>
          </a:p>
        </p:txBody>
      </p:sp>
      <p:sp>
        <p:nvSpPr>
          <p:cNvPr id="15" name="Text 13"/>
          <p:cNvSpPr txBox="1"/>
          <p:nvPr/>
        </p:nvSpPr>
        <p:spPr>
          <a:xfrm>
            <a:off x="1353312" y="341071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Gerbang membaca sumber data, lalu mengirim bukti ke rantai satu per satu.</a:t>
            </a:r>
            <a:endParaRPr lang="en-US" sz="1250" dirty="0"/>
          </a:p>
        </p:txBody>
      </p:sp>
      <p:sp>
        <p:nvSpPr>
          <p:cNvPr id="16" name="Shape 14"/>
          <p:cNvSpPr/>
          <p:nvPr/>
        </p:nvSpPr>
        <p:spPr>
          <a:xfrm>
            <a:off x="6263640" y="3063240"/>
            <a:ext cx="530352" cy="530352"/>
          </a:xfrm>
          <a:prstGeom prst="ellipse">
            <a:avLst/>
          </a:prstGeom>
          <a:solidFill>
            <a:srgbClr val="E8A33D"/>
          </a:solidFill>
          <a:ln/>
        </p:spPr>
      </p:sp>
      <p:sp>
        <p:nvSpPr>
          <p:cNvPr id="17" name="Text 15"/>
          <p:cNvSpPr txBox="1"/>
          <p:nvPr/>
        </p:nvSpPr>
        <p:spPr>
          <a:xfrm>
            <a:off x="6263640" y="306324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6976872" y="3017520"/>
            <a:ext cx="4663440" cy="365760"/>
          </a:xfrm>
          <a:prstGeom prst="rect">
            <a:avLst/>
          </a:prstGeom>
          <a:noFill/>
          <a:ln/>
        </p:spPr>
        <p:txBody>
          <a:bodyPr wrap="square" lIns="0" tIns="0" rIns="0" bIns="0" rtlCol="0" anchor="t"/>
          <a:lstStyle/>
          <a:p>
            <a:pPr indent="0" marL="0">
              <a:buNone/>
            </a:pPr>
            <a:r>
              <a:rPr lang="en-US" sz="1550" b="1" dirty="0">
                <a:solidFill>
                  <a:srgbClr val="0F2942"/>
                </a:solidFill>
                <a:latin typeface="Cambria" pitchFamily="34" charset="0"/>
                <a:ea typeface="Cambria" pitchFamily="34" charset="-122"/>
                <a:cs typeface="Cambria" pitchFamily="34" charset="-120"/>
              </a:rPr>
              <a:t>Peragakan satu kasus gagal</a:t>
            </a:r>
            <a:endParaRPr lang="en-US" sz="1550" dirty="0"/>
          </a:p>
        </p:txBody>
      </p:sp>
      <p:sp>
        <p:nvSpPr>
          <p:cNvPr id="19" name="Text 17"/>
          <p:cNvSpPr txBox="1"/>
          <p:nvPr/>
        </p:nvSpPr>
        <p:spPr>
          <a:xfrm>
            <a:off x="6976872" y="341071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Satu sumber sengaja dibuat tidak cocok. Perhatikan: kontrak menolak, bukan meloloskan.</a:t>
            </a:r>
            <a:endParaRPr lang="en-US" sz="1250" dirty="0"/>
          </a:p>
        </p:txBody>
      </p:sp>
      <p:sp>
        <p:nvSpPr>
          <p:cNvPr id="20" name="Shape 18"/>
          <p:cNvSpPr/>
          <p:nvPr/>
        </p:nvSpPr>
        <p:spPr>
          <a:xfrm>
            <a:off x="640080" y="4526280"/>
            <a:ext cx="530352" cy="530352"/>
          </a:xfrm>
          <a:prstGeom prst="ellipse">
            <a:avLst/>
          </a:prstGeom>
          <a:solidFill>
            <a:srgbClr val="1C7293"/>
          </a:solidFill>
          <a:ln/>
        </p:spPr>
      </p:sp>
      <p:sp>
        <p:nvSpPr>
          <p:cNvPr id="21" name="Text 19"/>
          <p:cNvSpPr txBox="1"/>
          <p:nvPr/>
        </p:nvSpPr>
        <p:spPr>
          <a:xfrm>
            <a:off x="640080" y="452628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1353312" y="4480560"/>
            <a:ext cx="4663440" cy="365760"/>
          </a:xfrm>
          <a:prstGeom prst="rect">
            <a:avLst/>
          </a:prstGeom>
          <a:noFill/>
          <a:ln/>
        </p:spPr>
        <p:txBody>
          <a:bodyPr wrap="square" lIns="0" tIns="0" rIns="0" bIns="0" rtlCol="0" anchor="t"/>
          <a:lstStyle/>
          <a:p>
            <a:pPr indent="0" marL="0">
              <a:buNone/>
            </a:pPr>
            <a:r>
              <a:rPr lang="en-US" sz="1550" b="1" dirty="0">
                <a:solidFill>
                  <a:srgbClr val="0F2942"/>
                </a:solidFill>
                <a:latin typeface="Cambria" pitchFamily="34" charset="0"/>
                <a:ea typeface="Cambria" pitchFamily="34" charset="-122"/>
                <a:cs typeface="Cambria" pitchFamily="34" charset="-120"/>
              </a:rPr>
              <a:t>Buka sengketa dan putuskan</a:t>
            </a:r>
            <a:endParaRPr lang="en-US" sz="1550" dirty="0"/>
          </a:p>
        </p:txBody>
      </p:sp>
      <p:sp>
        <p:nvSpPr>
          <p:cNvPr id="23" name="Text 21"/>
          <p:cNvSpPr txBox="1"/>
          <p:nvPr/>
        </p:nvSpPr>
        <p:spPr>
          <a:xfrm>
            <a:off x="1353312" y="487375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Jaminan ditaruh, arbiter memutus, jaminan verifikator yang salah dipotong.</a:t>
            </a:r>
            <a:endParaRPr lang="en-US" sz="1250" dirty="0"/>
          </a:p>
        </p:txBody>
      </p:sp>
      <p:sp>
        <p:nvSpPr>
          <p:cNvPr id="24" name="Shape 22"/>
          <p:cNvSpPr/>
          <p:nvPr/>
        </p:nvSpPr>
        <p:spPr>
          <a:xfrm>
            <a:off x="6263640" y="4526280"/>
            <a:ext cx="530352" cy="530352"/>
          </a:xfrm>
          <a:prstGeom prst="ellipse">
            <a:avLst/>
          </a:prstGeom>
          <a:solidFill>
            <a:srgbClr val="1C7293"/>
          </a:solidFill>
          <a:ln/>
        </p:spPr>
      </p:sp>
      <p:sp>
        <p:nvSpPr>
          <p:cNvPr id="25" name="Text 23"/>
          <p:cNvSpPr txBox="1"/>
          <p:nvPr/>
        </p:nvSpPr>
        <p:spPr>
          <a:xfrm>
            <a:off x="6263640" y="452628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6" name="Text 24"/>
          <p:cNvSpPr txBox="1"/>
          <p:nvPr/>
        </p:nvSpPr>
        <p:spPr>
          <a:xfrm>
            <a:off x="6976872" y="4480560"/>
            <a:ext cx="4663440" cy="365760"/>
          </a:xfrm>
          <a:prstGeom prst="rect">
            <a:avLst/>
          </a:prstGeom>
          <a:noFill/>
          <a:ln/>
        </p:spPr>
        <p:txBody>
          <a:bodyPr wrap="square" lIns="0" tIns="0" rIns="0" bIns="0" rtlCol="0" anchor="t"/>
          <a:lstStyle/>
          <a:p>
            <a:pPr indent="0" marL="0">
              <a:buNone/>
            </a:pPr>
            <a:r>
              <a:rPr lang="en-US" sz="1550" b="1" dirty="0">
                <a:solidFill>
                  <a:srgbClr val="0F2942"/>
                </a:solidFill>
                <a:latin typeface="Cambria" pitchFamily="34" charset="0"/>
                <a:ea typeface="Cambria" pitchFamily="34" charset="-122"/>
                <a:cs typeface="Cambria" pitchFamily="34" charset="-120"/>
              </a:rPr>
              <a:t>Lewati timelock dan lepas dana</a:t>
            </a:r>
            <a:endParaRPr lang="en-US" sz="1550" dirty="0"/>
          </a:p>
        </p:txBody>
      </p:sp>
      <p:sp>
        <p:nvSpPr>
          <p:cNvPr id="27" name="Text 25"/>
          <p:cNvSpPr txBox="1"/>
          <p:nvPr/>
        </p:nvSpPr>
        <p:spPr>
          <a:xfrm>
            <a:off x="6976872" y="4873752"/>
            <a:ext cx="4663440" cy="7772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Setelah 24 jam, siapa pun boleh memicu pelepasan. Kontrak yang membayar, bukan kami.</a:t>
            </a:r>
            <a:endParaRPr lang="en-US" sz="1250" dirty="0"/>
          </a:p>
        </p:txBody>
      </p:sp>
      <p:sp>
        <p:nvSpPr>
          <p:cNvPr id="28" name="Shape 26"/>
          <p:cNvSpPr/>
          <p:nvPr/>
        </p:nvSpPr>
        <p:spPr>
          <a:xfrm>
            <a:off x="640080" y="5897880"/>
            <a:ext cx="10881360" cy="640080"/>
          </a:xfrm>
          <a:prstGeom prst="roundRect">
            <a:avLst>
              <a:gd name="adj" fmla="val 11429"/>
            </a:avLst>
          </a:prstGeom>
          <a:solidFill>
            <a:srgbClr val="F1F5F8"/>
          </a:solidFill>
          <a:ln/>
        </p:spPr>
      </p:sp>
      <p:sp>
        <p:nvSpPr>
          <p:cNvPr id="29" name="Text 27"/>
          <p:cNvSpPr txBox="1"/>
          <p:nvPr/>
        </p:nvSpPr>
        <p:spPr>
          <a:xfrm>
            <a:off x="1051560" y="6053328"/>
            <a:ext cx="10058400" cy="365760"/>
          </a:xfrm>
          <a:prstGeom prst="rect">
            <a:avLst/>
          </a:prstGeom>
          <a:noFill/>
          <a:ln/>
        </p:spPr>
        <p:txBody>
          <a:bodyPr wrap="square" lIns="0" tIns="0" rIns="0" bIns="0" rtlCol="0" anchor="t"/>
          <a:lstStyle/>
          <a:p>
            <a:pPr indent="0" marL="0">
              <a:lnSpc>
                <a:spcPts val="2000"/>
              </a:lnSpc>
              <a:buNone/>
            </a:pPr>
            <a:r>
              <a:rPr lang="en-US" sz="1300" i="1" dirty="0">
                <a:solidFill>
                  <a:srgbClr val="0F2942"/>
                </a:solidFill>
                <a:latin typeface="Calibri" pitchFamily="34" charset="0"/>
                <a:ea typeface="Calibri" pitchFamily="34" charset="-122"/>
                <a:cs typeface="Calibri" pitchFamily="34" charset="-120"/>
              </a:rPr>
              <a:t>Langkah 4 sengaja ada. Prototipe yang hanya bisa memperagakan kasus mulus belum membuktikan apa pun.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STATUS</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Yang sudah jalan, dan yang belum</a:t>
            </a:r>
            <a:endParaRPr lang="en-US" sz="3400" dirty="0"/>
          </a:p>
        </p:txBody>
      </p:sp>
      <p:sp>
        <p:nvSpPr>
          <p:cNvPr id="4" name="Shape 2"/>
          <p:cNvSpPr/>
          <p:nvPr/>
        </p:nvSpPr>
        <p:spPr>
          <a:xfrm>
            <a:off x="640080" y="1463040"/>
            <a:ext cx="5212080" cy="4114800"/>
          </a:xfrm>
          <a:prstGeom prst="roundRect">
            <a:avLst>
              <a:gd name="adj" fmla="val 1778"/>
            </a:avLst>
          </a:prstGeom>
          <a:solidFill>
            <a:srgbClr val="F1F5F8"/>
          </a:solidFill>
          <a:ln/>
        </p:spPr>
      </p:sp>
      <p:sp>
        <p:nvSpPr>
          <p:cNvPr id="5" name="Shape 3"/>
          <p:cNvSpPr/>
          <p:nvPr/>
        </p:nvSpPr>
        <p:spPr>
          <a:xfrm>
            <a:off x="1024128" y="1737360"/>
            <a:ext cx="457200" cy="457200"/>
          </a:xfrm>
          <a:prstGeom prst="ellipse">
            <a:avLst/>
          </a:prstGeom>
          <a:solidFill>
            <a:srgbClr val="2F7D5F"/>
          </a:solidFill>
          <a:ln/>
        </p:spPr>
      </p:sp>
      <p:sp>
        <p:nvSpPr>
          <p:cNvPr id="6" name="Text 4"/>
          <p:cNvSpPr txBox="1"/>
          <p:nvPr/>
        </p:nvSpPr>
        <p:spPr>
          <a:xfrm>
            <a:off x="1024128"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7" name="Text 5"/>
          <p:cNvSpPr txBox="1"/>
          <p:nvPr/>
        </p:nvSpPr>
        <p:spPr>
          <a:xfrm>
            <a:off x="1600200" y="1801368"/>
            <a:ext cx="384048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Sudah berjalan</a:t>
            </a:r>
            <a:endParaRPr lang="en-US" sz="1900" dirty="0"/>
          </a:p>
        </p:txBody>
      </p:sp>
      <p:sp>
        <p:nvSpPr>
          <p:cNvPr id="8" name="Text 6"/>
          <p:cNvSpPr txBox="1"/>
          <p:nvPr/>
        </p:nvSpPr>
        <p:spPr>
          <a:xfrm>
            <a:off x="1024128" y="248716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Kontrak escrow lengkap dengan tiga milestone</a:t>
            </a:r>
            <a:endParaRPr lang="en-US" sz="1250" dirty="0"/>
          </a:p>
        </p:txBody>
      </p:sp>
      <p:sp>
        <p:nvSpPr>
          <p:cNvPr id="9" name="Text 7"/>
          <p:cNvSpPr txBox="1"/>
          <p:nvPr/>
        </p:nvSpPr>
        <p:spPr>
          <a:xfrm>
            <a:off x="1024128" y="299008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Jendela sanggah, timelock, dan pengembalian dana</a:t>
            </a:r>
            <a:endParaRPr lang="en-US" sz="1250" dirty="0"/>
          </a:p>
        </p:txBody>
      </p:sp>
      <p:sp>
        <p:nvSpPr>
          <p:cNvPr id="10" name="Text 8"/>
          <p:cNvSpPr txBox="1"/>
          <p:nvPr/>
        </p:nvSpPr>
        <p:spPr>
          <a:xfrm>
            <a:off x="1024128" y="349300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Sengketa, putusan arbiter, dan pemotongan jaminan</a:t>
            </a:r>
            <a:endParaRPr lang="en-US" sz="1250" dirty="0"/>
          </a:p>
        </p:txBody>
      </p:sp>
      <p:sp>
        <p:nvSpPr>
          <p:cNvPr id="11" name="Text 9"/>
          <p:cNvSpPr txBox="1"/>
          <p:nvPr/>
        </p:nvSpPr>
        <p:spPr>
          <a:xfrm>
            <a:off x="1024128" y="399592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Masuk pakai akun Google, gas ditalangi</a:t>
            </a:r>
            <a:endParaRPr lang="en-US" sz="1250" dirty="0"/>
          </a:p>
        </p:txBody>
      </p:sp>
      <p:sp>
        <p:nvSpPr>
          <p:cNvPr id="12" name="Text 10"/>
          <p:cNvSpPr txBox="1"/>
          <p:nvPr/>
        </p:nvSpPr>
        <p:spPr>
          <a:xfrm>
            <a:off x="1024128" y="449884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Akun perusahaan dengan peran dan MFA</a:t>
            </a:r>
            <a:endParaRPr lang="en-US" sz="1250" dirty="0"/>
          </a:p>
        </p:txBody>
      </p:sp>
      <p:sp>
        <p:nvSpPr>
          <p:cNvPr id="13" name="Text 11"/>
          <p:cNvSpPr txBox="1"/>
          <p:nvPr/>
        </p:nvSpPr>
        <p:spPr>
          <a:xfrm>
            <a:off x="1024128" y="500176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Perpanjangan tenggat atas persetujuan dua pihak</a:t>
            </a:r>
            <a:endParaRPr lang="en-US" sz="1250" dirty="0"/>
          </a:p>
        </p:txBody>
      </p:sp>
      <p:sp>
        <p:nvSpPr>
          <p:cNvPr id="14" name="Shape 12"/>
          <p:cNvSpPr/>
          <p:nvPr/>
        </p:nvSpPr>
        <p:spPr>
          <a:xfrm>
            <a:off x="6309360" y="1463040"/>
            <a:ext cx="5212080" cy="4114800"/>
          </a:xfrm>
          <a:prstGeom prst="roundRect">
            <a:avLst>
              <a:gd name="adj" fmla="val 1778"/>
            </a:avLst>
          </a:prstGeom>
          <a:solidFill>
            <a:srgbClr val="F1F5F8"/>
          </a:solidFill>
          <a:ln/>
        </p:spPr>
      </p:sp>
      <p:sp>
        <p:nvSpPr>
          <p:cNvPr id="15" name="Shape 13"/>
          <p:cNvSpPr/>
          <p:nvPr/>
        </p:nvSpPr>
        <p:spPr>
          <a:xfrm>
            <a:off x="6693408" y="1737360"/>
            <a:ext cx="457200" cy="457200"/>
          </a:xfrm>
          <a:prstGeom prst="ellipse">
            <a:avLst/>
          </a:prstGeom>
          <a:solidFill>
            <a:srgbClr val="E8A33D"/>
          </a:solidFill>
          <a:ln/>
        </p:spPr>
      </p:sp>
      <p:sp>
        <p:nvSpPr>
          <p:cNvPr id="16" name="Text 14"/>
          <p:cNvSpPr txBox="1"/>
          <p:nvPr/>
        </p:nvSpPr>
        <p:spPr>
          <a:xfrm>
            <a:off x="6693408" y="1737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
            </a:r>
            <a:endParaRPr lang="en-US" sz="1400" dirty="0"/>
          </a:p>
        </p:txBody>
      </p:sp>
      <p:sp>
        <p:nvSpPr>
          <p:cNvPr id="17" name="Text 15"/>
          <p:cNvSpPr txBox="1"/>
          <p:nvPr/>
        </p:nvSpPr>
        <p:spPr>
          <a:xfrm>
            <a:off x="7269480" y="1801368"/>
            <a:ext cx="3840480" cy="365760"/>
          </a:xfrm>
          <a:prstGeom prst="rect">
            <a:avLst/>
          </a:prstGeom>
          <a:noFill/>
          <a:ln/>
        </p:spPr>
        <p:txBody>
          <a:bodyPr wrap="square" lIns="0" tIns="0" rIns="0" bIns="0" rtlCol="0" anchor="t"/>
          <a:lstStyle/>
          <a:p>
            <a:pPr indent="0" marL="0">
              <a:buNone/>
            </a:pPr>
            <a:r>
              <a:rPr lang="en-US" sz="1900" b="1" dirty="0">
                <a:solidFill>
                  <a:srgbClr val="0F2942"/>
                </a:solidFill>
                <a:latin typeface="Cambria" pitchFamily="34" charset="0"/>
                <a:ea typeface="Cambria" pitchFamily="34" charset="-122"/>
                <a:cs typeface="Cambria" pitchFamily="34" charset="-120"/>
              </a:rPr>
              <a:t>Belum ada</a:t>
            </a:r>
            <a:endParaRPr lang="en-US" sz="1900" dirty="0"/>
          </a:p>
        </p:txBody>
      </p:sp>
      <p:sp>
        <p:nvSpPr>
          <p:cNvPr id="18" name="Text 16"/>
          <p:cNvSpPr txBox="1"/>
          <p:nvPr/>
        </p:nvSpPr>
        <p:spPr>
          <a:xfrm>
            <a:off x="6693408" y="248716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Sambungan sungguhan ke CEISA, AIS, dan VGM</a:t>
            </a:r>
            <a:endParaRPr lang="en-US" sz="1250" dirty="0"/>
          </a:p>
        </p:txBody>
      </p:sp>
      <p:sp>
        <p:nvSpPr>
          <p:cNvPr id="19" name="Text 17"/>
          <p:cNvSpPr txBox="1"/>
          <p:nvPr/>
        </p:nvSpPr>
        <p:spPr>
          <a:xfrm>
            <a:off x="6693408" y="299008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Rupiah sungguhan — sekarang masih token demo</a:t>
            </a:r>
            <a:endParaRPr lang="en-US" sz="1250" dirty="0"/>
          </a:p>
        </p:txBody>
      </p:sp>
      <p:sp>
        <p:nvSpPr>
          <p:cNvPr id="20" name="Text 18"/>
          <p:cNvSpPr txBox="1"/>
          <p:nvPr/>
        </p:nvSpPr>
        <p:spPr>
          <a:xfrm>
            <a:off x="6693408" y="349300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Audit keamanan pihak ketiga atas kontrak</a:t>
            </a:r>
            <a:endParaRPr lang="en-US" sz="1250" dirty="0"/>
          </a:p>
        </p:txBody>
      </p:sp>
      <p:sp>
        <p:nvSpPr>
          <p:cNvPr id="21" name="Text 19"/>
          <p:cNvSpPr txBox="1"/>
          <p:nvPr/>
        </p:nvSpPr>
        <p:spPr>
          <a:xfrm>
            <a:off x="6693408" y="399592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Penerapan di jaringan utama</a:t>
            </a:r>
            <a:endParaRPr lang="en-US" sz="1250" dirty="0"/>
          </a:p>
        </p:txBody>
      </p:sp>
      <p:sp>
        <p:nvSpPr>
          <p:cNvPr id="22" name="Text 20"/>
          <p:cNvSpPr txBox="1"/>
          <p:nvPr/>
        </p:nvSpPr>
        <p:spPr>
          <a:xfrm>
            <a:off x="6693408" y="449884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Panel arbiter untuk memutus sengketa lewat antarmuka</a:t>
            </a:r>
            <a:endParaRPr lang="en-US" sz="1250" dirty="0"/>
          </a:p>
        </p:txBody>
      </p:sp>
      <p:sp>
        <p:nvSpPr>
          <p:cNvPr id="23" name="Text 21"/>
          <p:cNvSpPr txBox="1"/>
          <p:nvPr/>
        </p:nvSpPr>
        <p:spPr>
          <a:xfrm>
            <a:off x="6693408" y="5001768"/>
            <a:ext cx="4526280" cy="457200"/>
          </a:xfrm>
          <a:prstGeom prst="rect">
            <a:avLst/>
          </a:prstGeom>
          <a:noFill/>
          <a:ln/>
        </p:spPr>
        <p:txBody>
          <a:bodyPr wrap="square" lIns="0" tIns="0" rIns="0" bIns="0" rtlCol="0" anchor="t"/>
          <a:lstStyle/>
          <a:p>
            <a:pPr indent="0" marL="0">
              <a:lnSpc>
                <a:spcPts val="1600"/>
              </a:lnSpc>
              <a:buNone/>
            </a:pPr>
            <a:r>
              <a:rPr lang="en-US" sz="1250" dirty="0">
                <a:solidFill>
                  <a:srgbClr val="5A6B78"/>
                </a:solidFill>
                <a:latin typeface="Calibri" pitchFamily="34" charset="0"/>
                <a:ea typeface="Calibri" pitchFamily="34" charset="-122"/>
                <a:cs typeface="Calibri" pitchFamily="34" charset="-120"/>
              </a:rPr>
              <a:t>Uji beban dengan banyak kontrak berjalan bersamaan</a:t>
            </a:r>
            <a:endParaRPr lang="en-US" sz="1250" dirty="0"/>
          </a:p>
        </p:txBody>
      </p:sp>
      <p:sp>
        <p:nvSpPr>
          <p:cNvPr id="24" name="Text 22"/>
          <p:cNvSpPr txBox="1"/>
          <p:nvPr/>
        </p:nvSpPr>
        <p:spPr>
          <a:xfrm>
            <a:off x="640080" y="5806440"/>
            <a:ext cx="10881360" cy="457200"/>
          </a:xfrm>
          <a:prstGeom prst="rect">
            <a:avLst/>
          </a:prstGeom>
          <a:noFill/>
          <a:ln/>
        </p:spPr>
        <p:txBody>
          <a:bodyPr wrap="square" lIns="0" tIns="0" rIns="0" bIns="0" rtlCol="0" anchor="ctr"/>
          <a:lstStyle/>
          <a:p>
            <a:pPr indent="0" marL="0">
              <a:buNone/>
            </a:pPr>
            <a:r>
              <a:rPr lang="en-US" sz="1500" i="1" dirty="0">
                <a:solidFill>
                  <a:srgbClr val="0F2942"/>
                </a:solidFill>
                <a:latin typeface="Cambria" pitchFamily="34" charset="0"/>
                <a:ea typeface="Cambria" pitchFamily="34" charset="-122"/>
                <a:cs typeface="Cambria" pitchFamily="34" charset="-120"/>
              </a:rPr>
              <a:t>Kolom kanan bukan kelemahan yang disembunyikan. Itu peta jalan yang kami buka sendiri.</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56032"/>
            <a:ext cx="1088136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KE DEPAN</a:t>
            </a:r>
            <a:endParaRPr lang="en-US" sz="1100" dirty="0"/>
          </a:p>
        </p:txBody>
      </p:sp>
      <p:sp>
        <p:nvSpPr>
          <p:cNvPr id="3" name="Text 1"/>
          <p:cNvSpPr txBox="1"/>
          <p:nvPr/>
        </p:nvSpPr>
        <p:spPr>
          <a:xfrm>
            <a:off x="640080" y="457200"/>
            <a:ext cx="10881360" cy="685800"/>
          </a:xfrm>
          <a:prstGeom prst="rect">
            <a:avLst/>
          </a:prstGeom>
          <a:noFill/>
          <a:ln/>
        </p:spPr>
        <p:txBody>
          <a:bodyPr wrap="square" lIns="0" tIns="0" rIns="0" bIns="0" rtlCol="0" anchor="ctr"/>
          <a:lstStyle/>
          <a:p>
            <a:pPr algn="l" indent="0" marL="0">
              <a:buNone/>
            </a:pPr>
            <a:r>
              <a:rPr lang="en-US" sz="3400" b="1" dirty="0">
                <a:solidFill>
                  <a:srgbClr val="16232E"/>
                </a:solidFill>
                <a:latin typeface="Cambria" pitchFamily="34" charset="0"/>
                <a:ea typeface="Cambria" pitchFamily="34" charset="-122"/>
                <a:cs typeface="Cambria" pitchFamily="34" charset="-120"/>
              </a:rPr>
              <a:t>Tiga langkah berikutnya</a:t>
            </a:r>
            <a:endParaRPr lang="en-US" sz="3400" dirty="0"/>
          </a:p>
        </p:txBody>
      </p:sp>
      <p:sp>
        <p:nvSpPr>
          <p:cNvPr id="4" name="Shape 2"/>
          <p:cNvSpPr/>
          <p:nvPr/>
        </p:nvSpPr>
        <p:spPr>
          <a:xfrm>
            <a:off x="640080" y="1508760"/>
            <a:ext cx="3474720" cy="3566160"/>
          </a:xfrm>
          <a:prstGeom prst="roundRect">
            <a:avLst>
              <a:gd name="adj" fmla="val 2105"/>
            </a:avLst>
          </a:prstGeom>
          <a:solidFill>
            <a:srgbClr val="0F2942"/>
          </a:solidFill>
          <a:ln/>
        </p:spPr>
      </p:sp>
      <p:sp>
        <p:nvSpPr>
          <p:cNvPr id="5" name="Shape 3"/>
          <p:cNvSpPr/>
          <p:nvPr/>
        </p:nvSpPr>
        <p:spPr>
          <a:xfrm>
            <a:off x="1005840" y="1828800"/>
            <a:ext cx="566928" cy="566928"/>
          </a:xfrm>
          <a:prstGeom prst="ellipse">
            <a:avLst/>
          </a:prstGeom>
          <a:solidFill>
            <a:srgbClr val="E8A33D"/>
          </a:solidFill>
          <a:ln/>
        </p:spPr>
      </p:sp>
      <p:sp>
        <p:nvSpPr>
          <p:cNvPr id="6" name="Text 4"/>
          <p:cNvSpPr txBox="1"/>
          <p:nvPr/>
        </p:nvSpPr>
        <p:spPr>
          <a:xfrm>
            <a:off x="1005840" y="1828800"/>
            <a:ext cx="566928" cy="566928"/>
          </a:xfrm>
          <a:prstGeom prst="rect">
            <a:avLst/>
          </a:prstGeom>
          <a:noFill/>
          <a:ln/>
        </p:spPr>
        <p:txBody>
          <a:bodyPr wrap="square" lIns="0" tIns="0" rIns="0" bIns="0" rtlCol="0" anchor="ctr"/>
          <a:lstStyle/>
          <a:p>
            <a:pPr algn="ctr" indent="0" marL="0">
              <a:buNone/>
            </a:pPr>
            <a:r>
              <a:rPr lang="en-US" sz="1800" b="1" dirty="0">
                <a:solidFill>
                  <a:srgbClr val="0F2942"/>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005840" y="2578608"/>
            <a:ext cx="2743200" cy="256032"/>
          </a:xfrm>
          <a:prstGeom prst="rect">
            <a:avLst/>
          </a:prstGeom>
          <a:noFill/>
          <a:ln/>
        </p:spPr>
        <p:txBody>
          <a:bodyPr wrap="square" lIns="0" tIns="0" rIns="0" bIns="0" rtlCol="0" anchor="ctr"/>
          <a:lstStyle/>
          <a:p>
            <a:pPr indent="0" marL="0">
              <a:buNone/>
            </a:pPr>
            <a:r>
              <a:rPr lang="en-US" sz="1000" b="1" spc="100" kern="0" dirty="0">
                <a:solidFill>
                  <a:srgbClr val="E8A33D"/>
                </a:solidFill>
                <a:latin typeface="Calibri" pitchFamily="34" charset="0"/>
                <a:ea typeface="Calibri" pitchFamily="34" charset="-122"/>
                <a:cs typeface="Calibri" pitchFamily="34" charset="-120"/>
              </a:rPr>
              <a:t>Berikutnya</a:t>
            </a:r>
            <a:endParaRPr lang="en-US" sz="1000" dirty="0"/>
          </a:p>
        </p:txBody>
      </p:sp>
      <p:sp>
        <p:nvSpPr>
          <p:cNvPr id="8" name="Text 6"/>
          <p:cNvSpPr txBox="1"/>
          <p:nvPr/>
        </p:nvSpPr>
        <p:spPr>
          <a:xfrm>
            <a:off x="1005840" y="2880360"/>
            <a:ext cx="2743200" cy="68580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Sambungan data nyata</a:t>
            </a:r>
            <a:endParaRPr lang="en-US" sz="1700" dirty="0"/>
          </a:p>
        </p:txBody>
      </p:sp>
      <p:sp>
        <p:nvSpPr>
          <p:cNvPr id="9" name="Text 7"/>
          <p:cNvSpPr txBox="1"/>
          <p:nvPr/>
        </p:nvSpPr>
        <p:spPr>
          <a:xfrm>
            <a:off x="1005840" y="3657600"/>
            <a:ext cx="2743200" cy="1234440"/>
          </a:xfrm>
          <a:prstGeom prst="rect">
            <a:avLst/>
          </a:prstGeom>
          <a:noFill/>
          <a:ln/>
        </p:spPr>
        <p:txBody>
          <a:bodyPr wrap="square" lIns="0" tIns="0" rIns="0" bIns="0" rtlCol="0" anchor="t"/>
          <a:lstStyle/>
          <a:p>
            <a:pPr indent="0" marL="0">
              <a:lnSpc>
                <a:spcPts val="1700"/>
              </a:lnSpc>
              <a:buNone/>
            </a:pPr>
            <a:r>
              <a:rPr lang="en-US" sz="1250" dirty="0">
                <a:solidFill>
                  <a:srgbClr val="A8C4D6"/>
                </a:solidFill>
                <a:latin typeface="Calibri" pitchFamily="34" charset="0"/>
                <a:ea typeface="Calibri" pitchFamily="34" charset="-122"/>
                <a:cs typeface="Calibri" pitchFamily="34" charset="-120"/>
              </a:rPr>
              <a:t>Mengganti sumber simulasi dengan sambungan resmi: CEISA untuk kepabeanan, penyedia AIS untuk pelayaran, surveyor untuk VGM dan inspeksi.</a:t>
            </a:r>
            <a:endParaRPr lang="en-US" sz="1250" dirty="0"/>
          </a:p>
        </p:txBody>
      </p:sp>
      <p:sp>
        <p:nvSpPr>
          <p:cNvPr id="10" name="Shape 8"/>
          <p:cNvSpPr/>
          <p:nvPr/>
        </p:nvSpPr>
        <p:spPr>
          <a:xfrm>
            <a:off x="4389120" y="1508760"/>
            <a:ext cx="3474720" cy="3566160"/>
          </a:xfrm>
          <a:prstGeom prst="roundRect">
            <a:avLst>
              <a:gd name="adj" fmla="val 2105"/>
            </a:avLst>
          </a:prstGeom>
          <a:solidFill>
            <a:srgbClr val="F1F5F8"/>
          </a:solidFill>
          <a:ln/>
        </p:spPr>
      </p:sp>
      <p:sp>
        <p:nvSpPr>
          <p:cNvPr id="11" name="Shape 9"/>
          <p:cNvSpPr/>
          <p:nvPr/>
        </p:nvSpPr>
        <p:spPr>
          <a:xfrm>
            <a:off x="4754880" y="1828800"/>
            <a:ext cx="566928" cy="566928"/>
          </a:xfrm>
          <a:prstGeom prst="ellipse">
            <a:avLst/>
          </a:prstGeom>
          <a:solidFill>
            <a:srgbClr val="1C7293"/>
          </a:solidFill>
          <a:ln/>
        </p:spPr>
      </p:sp>
      <p:sp>
        <p:nvSpPr>
          <p:cNvPr id="12" name="Text 10"/>
          <p:cNvSpPr txBox="1"/>
          <p:nvPr/>
        </p:nvSpPr>
        <p:spPr>
          <a:xfrm>
            <a:off x="4754880" y="18288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4754880" y="2578608"/>
            <a:ext cx="2743200" cy="256032"/>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Sesudah itu</a:t>
            </a:r>
            <a:endParaRPr lang="en-US" sz="1000" dirty="0"/>
          </a:p>
        </p:txBody>
      </p:sp>
      <p:sp>
        <p:nvSpPr>
          <p:cNvPr id="14" name="Text 12"/>
          <p:cNvSpPr txBox="1"/>
          <p:nvPr/>
        </p:nvSpPr>
        <p:spPr>
          <a:xfrm>
            <a:off x="4754880" y="2880360"/>
            <a:ext cx="2743200" cy="685800"/>
          </a:xfrm>
          <a:prstGeom prst="rect">
            <a:avLst/>
          </a:prstGeom>
          <a:noFill/>
          <a:ln/>
        </p:spPr>
        <p:txBody>
          <a:bodyPr wrap="square" lIns="0" tIns="0" rIns="0" bIns="0" rtlCol="0" anchor="t"/>
          <a:lstStyle/>
          <a:p>
            <a:pPr indent="0" marL="0">
              <a:buNone/>
            </a:pPr>
            <a:r>
              <a:rPr lang="en-US" sz="1700" b="1" dirty="0">
                <a:solidFill>
                  <a:srgbClr val="0F2942"/>
                </a:solidFill>
                <a:latin typeface="Cambria" pitchFamily="34" charset="0"/>
                <a:ea typeface="Cambria" pitchFamily="34" charset="-122"/>
                <a:cs typeface="Cambria" pitchFamily="34" charset="-120"/>
              </a:rPr>
              <a:t>Uji coba terbatas</a:t>
            </a:r>
            <a:endParaRPr lang="en-US" sz="1700" dirty="0"/>
          </a:p>
        </p:txBody>
      </p:sp>
      <p:sp>
        <p:nvSpPr>
          <p:cNvPr id="15" name="Text 13"/>
          <p:cNvSpPr txBox="1"/>
          <p:nvPr/>
        </p:nvSpPr>
        <p:spPr>
          <a:xfrm>
            <a:off x="4754880" y="3657600"/>
            <a:ext cx="2743200" cy="12344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Satu koridor komoditas, beberapa pengapalan sungguhan bernilai kecil, didampingi audit keamanan atas kontrak.</a:t>
            </a:r>
            <a:endParaRPr lang="en-US" sz="1250" dirty="0"/>
          </a:p>
        </p:txBody>
      </p:sp>
      <p:sp>
        <p:nvSpPr>
          <p:cNvPr id="16" name="Shape 14"/>
          <p:cNvSpPr/>
          <p:nvPr/>
        </p:nvSpPr>
        <p:spPr>
          <a:xfrm>
            <a:off x="8138160" y="1508760"/>
            <a:ext cx="3474720" cy="3566160"/>
          </a:xfrm>
          <a:prstGeom prst="roundRect">
            <a:avLst>
              <a:gd name="adj" fmla="val 2105"/>
            </a:avLst>
          </a:prstGeom>
          <a:solidFill>
            <a:srgbClr val="F1F5F8"/>
          </a:solidFill>
          <a:ln/>
        </p:spPr>
      </p:sp>
      <p:sp>
        <p:nvSpPr>
          <p:cNvPr id="17" name="Shape 15"/>
          <p:cNvSpPr/>
          <p:nvPr/>
        </p:nvSpPr>
        <p:spPr>
          <a:xfrm>
            <a:off x="8503920" y="1828800"/>
            <a:ext cx="566928" cy="566928"/>
          </a:xfrm>
          <a:prstGeom prst="ellipse">
            <a:avLst/>
          </a:prstGeom>
          <a:solidFill>
            <a:srgbClr val="1C7293"/>
          </a:solidFill>
          <a:ln/>
        </p:spPr>
      </p:sp>
      <p:sp>
        <p:nvSpPr>
          <p:cNvPr id="18" name="Text 16"/>
          <p:cNvSpPr txBox="1"/>
          <p:nvPr/>
        </p:nvSpPr>
        <p:spPr>
          <a:xfrm>
            <a:off x="8503920" y="182880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503920" y="2578608"/>
            <a:ext cx="2743200" cy="256032"/>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Bergantung regulasi</a:t>
            </a:r>
            <a:endParaRPr lang="en-US" sz="1000" dirty="0"/>
          </a:p>
        </p:txBody>
      </p:sp>
      <p:sp>
        <p:nvSpPr>
          <p:cNvPr id="20" name="Text 18"/>
          <p:cNvSpPr txBox="1"/>
          <p:nvPr/>
        </p:nvSpPr>
        <p:spPr>
          <a:xfrm>
            <a:off x="8503920" y="2880360"/>
            <a:ext cx="2743200" cy="685800"/>
          </a:xfrm>
          <a:prstGeom prst="rect">
            <a:avLst/>
          </a:prstGeom>
          <a:noFill/>
          <a:ln/>
        </p:spPr>
        <p:txBody>
          <a:bodyPr wrap="square" lIns="0" tIns="0" rIns="0" bIns="0" rtlCol="0" anchor="t"/>
          <a:lstStyle/>
          <a:p>
            <a:pPr indent="0" marL="0">
              <a:buNone/>
            </a:pPr>
            <a:r>
              <a:rPr lang="en-US" sz="1700" b="1" dirty="0">
                <a:solidFill>
                  <a:srgbClr val="0F2942"/>
                </a:solidFill>
                <a:latin typeface="Cambria" pitchFamily="34" charset="0"/>
                <a:ea typeface="Cambria" pitchFamily="34" charset="-122"/>
                <a:cs typeface="Cambria" pitchFamily="34" charset="-120"/>
              </a:rPr>
              <a:t>Rupiah teregulasi</a:t>
            </a:r>
            <a:endParaRPr lang="en-US" sz="1700" dirty="0"/>
          </a:p>
        </p:txBody>
      </p:sp>
      <p:sp>
        <p:nvSpPr>
          <p:cNvPr id="21" name="Text 19"/>
          <p:cNvSpPr txBox="1"/>
          <p:nvPr/>
        </p:nvSpPr>
        <p:spPr>
          <a:xfrm>
            <a:off x="8503920" y="3657600"/>
            <a:ext cx="2743200" cy="1234440"/>
          </a:xfrm>
          <a:prstGeom prst="rect">
            <a:avLst/>
          </a:prstGeom>
          <a:noFill/>
          <a:ln/>
        </p:spPr>
        <p:txBody>
          <a:bodyPr wrap="square" lIns="0" tIns="0" rIns="0" bIns="0" rtlCol="0" anchor="t"/>
          <a:lstStyle/>
          <a:p>
            <a:pPr indent="0" marL="0">
              <a:lnSpc>
                <a:spcPts val="1700"/>
              </a:lnSpc>
              <a:buNone/>
            </a:pPr>
            <a:r>
              <a:rPr lang="en-US" sz="1250" dirty="0">
                <a:solidFill>
                  <a:srgbClr val="5A6B78"/>
                </a:solidFill>
                <a:latin typeface="Calibri" pitchFamily="34" charset="0"/>
                <a:ea typeface="Calibri" pitchFamily="34" charset="-122"/>
                <a:cs typeface="Calibri" pitchFamily="34" charset="-120"/>
              </a:rPr>
              <a:t>Mengganti token demo dengan rupiah digital yang diakui, sehingga penyelesaian terjadi dalam mata uang yang sah.</a:t>
            </a:r>
            <a:endParaRPr lang="en-US" sz="1250" dirty="0"/>
          </a:p>
        </p:txBody>
      </p:sp>
      <p:sp>
        <p:nvSpPr>
          <p:cNvPr id="22" name="Shape 20"/>
          <p:cNvSpPr/>
          <p:nvPr/>
        </p:nvSpPr>
        <p:spPr>
          <a:xfrm>
            <a:off x="640080" y="5349240"/>
            <a:ext cx="10881360" cy="914400"/>
          </a:xfrm>
          <a:prstGeom prst="roundRect">
            <a:avLst>
              <a:gd name="adj" fmla="val 8000"/>
            </a:avLst>
          </a:prstGeom>
          <a:solidFill>
            <a:srgbClr val="FFFFFF"/>
          </a:solidFill>
          <a:ln w="12700">
            <a:solidFill>
              <a:srgbClr val="D9E1E7"/>
            </a:solidFill>
            <a:prstDash val="solid"/>
          </a:ln>
        </p:spPr>
      </p:sp>
      <p:sp>
        <p:nvSpPr>
          <p:cNvPr id="23" name="Text 21"/>
          <p:cNvSpPr txBox="1"/>
          <p:nvPr/>
        </p:nvSpPr>
        <p:spPr>
          <a:xfrm>
            <a:off x="1051560" y="5532120"/>
            <a:ext cx="3200400" cy="320040"/>
          </a:xfrm>
          <a:prstGeom prst="rect">
            <a:avLst/>
          </a:prstGeom>
          <a:noFill/>
          <a:ln/>
        </p:spPr>
        <p:txBody>
          <a:bodyPr wrap="square" lIns="0" tIns="0" rIns="0" bIns="0" rtlCol="0" anchor="t"/>
          <a:lstStyle/>
          <a:p>
            <a:pPr indent="0" marL="0">
              <a:buNone/>
            </a:pPr>
            <a:r>
              <a:rPr lang="en-US" sz="1500" b="1" dirty="0">
                <a:solidFill>
                  <a:srgbClr val="0F2942"/>
                </a:solidFill>
                <a:latin typeface="Cambria" pitchFamily="34" charset="0"/>
                <a:ea typeface="Cambria" pitchFamily="34" charset="-122"/>
                <a:cs typeface="Cambria" pitchFamily="34" charset="-120"/>
              </a:rPr>
              <a:t>Yang kami minta hari ini</a:t>
            </a:r>
            <a:endParaRPr lang="en-US" sz="1500" dirty="0"/>
          </a:p>
        </p:txBody>
      </p:sp>
      <p:sp>
        <p:nvSpPr>
          <p:cNvPr id="24" name="Text 22"/>
          <p:cNvSpPr txBox="1"/>
          <p:nvPr/>
        </p:nvSpPr>
        <p:spPr>
          <a:xfrm>
            <a:off x="4480560" y="5559552"/>
            <a:ext cx="6766560" cy="54864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Bukan komitmen pembelian. Satu jam waktu Anda untuk menunjukkan di mana alur ini tidak cocok dengan cara kerja Anda yang sebenarnya.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942"/>
        </a:solidFill>
      </p:bgPr>
    </p:bg>
    <p:spTree>
      <p:nvGrpSpPr>
        <p:cNvPr id="1" name=""/>
        <p:cNvGrpSpPr/>
        <p:nvPr/>
      </p:nvGrpSpPr>
      <p:grpSpPr>
        <a:xfrm>
          <a:off x="0" y="0"/>
          <a:ext cx="0" cy="0"/>
          <a:chOff x="0" y="0"/>
          <a:chExt cx="0" cy="0"/>
        </a:xfrm>
      </p:grpSpPr>
      <p:sp>
        <p:nvSpPr>
          <p:cNvPr id="2" name="Text 0"/>
          <p:cNvSpPr txBox="1"/>
          <p:nvPr/>
        </p:nvSpPr>
        <p:spPr>
          <a:xfrm>
            <a:off x="822960" y="1920240"/>
            <a:ext cx="9601200" cy="1828800"/>
          </a:xfrm>
          <a:prstGeom prst="rect">
            <a:avLst/>
          </a:prstGeom>
          <a:noFill/>
          <a:ln/>
        </p:spPr>
        <p:txBody>
          <a:bodyPr wrap="square" lIns="0" tIns="0" rIns="0" bIns="0" rtlCol="0" anchor="ctr"/>
          <a:lstStyle/>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Dana dilepas oleh bukti,</a:t>
            </a:r>
            <a:endParaRPr lang="en-US" sz="4200" dirty="0"/>
          </a:p>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bukan oleh janji.</a:t>
            </a:r>
            <a:endParaRPr lang="en-US" sz="4200" dirty="0"/>
          </a:p>
        </p:txBody>
      </p:sp>
      <p:sp>
        <p:nvSpPr>
          <p:cNvPr id="3" name="Text 1"/>
          <p:cNvSpPr txBox="1"/>
          <p:nvPr/>
        </p:nvSpPr>
        <p:spPr>
          <a:xfrm>
            <a:off x="822960" y="4069080"/>
            <a:ext cx="7315200" cy="457200"/>
          </a:xfrm>
          <a:prstGeom prst="rect">
            <a:avLst/>
          </a:prstGeom>
          <a:noFill/>
          <a:ln/>
        </p:spPr>
        <p:txBody>
          <a:bodyPr wrap="square" lIns="0" tIns="0" rIns="0" bIns="0" rtlCol="0" anchor="ctr"/>
          <a:lstStyle/>
          <a:p>
            <a:pPr indent="0" marL="0">
              <a:buNone/>
            </a:pPr>
            <a:r>
              <a:rPr lang="en-US" sz="1800" b="1" spc="200" kern="0" dirty="0">
                <a:solidFill>
                  <a:srgbClr val="E8A33D"/>
                </a:solidFill>
                <a:latin typeface="Calibri" pitchFamily="34" charset="0"/>
                <a:ea typeface="Calibri" pitchFamily="34" charset="-122"/>
                <a:cs typeface="Calibri" pitchFamily="34" charset="-120"/>
              </a:rPr>
              <a:t>STERN Protocol</a:t>
            </a:r>
            <a:endParaRPr lang="en-US" sz="1800" dirty="0"/>
          </a:p>
        </p:txBody>
      </p:sp>
      <p:sp>
        <p:nvSpPr>
          <p:cNvPr id="4" name="Text 2"/>
          <p:cNvSpPr txBox="1"/>
          <p:nvPr/>
        </p:nvSpPr>
        <p:spPr>
          <a:xfrm>
            <a:off x="822960" y="4709160"/>
            <a:ext cx="9144000" cy="457200"/>
          </a:xfrm>
          <a:prstGeom prst="rect">
            <a:avLst/>
          </a:prstGeom>
          <a:noFill/>
          <a:ln/>
        </p:spPr>
        <p:txBody>
          <a:bodyPr wrap="square" lIns="0" tIns="0" rIns="0" bIns="0" rtlCol="0" anchor="ctr"/>
          <a:lstStyle/>
          <a:p>
            <a:pPr indent="0" marL="0">
              <a:buNone/>
            </a:pPr>
            <a:r>
              <a:rPr lang="en-US" sz="1600" dirty="0">
                <a:solidFill>
                  <a:srgbClr val="A8C4D6"/>
                </a:solidFill>
                <a:latin typeface="Calibri" pitchFamily="34" charset="0"/>
                <a:ea typeface="Calibri" pitchFamily="34" charset="-122"/>
                <a:cs typeface="Calibri" pitchFamily="34" charset="-120"/>
              </a:rPr>
              <a:t>Terima kasih. Sekarang giliran pertanyaan Anda — terutama yang sulit.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STERN Protocol — Prototipe</dc:title>
  <dc:subject>PptxGenJS Presentation</dc:subject>
  <dc:creator>STERN Protocol</dc:creator>
  <cp:lastModifiedBy>STERN Protocol</cp:lastModifiedBy>
  <cp:revision>1</cp:revision>
  <dcterms:created xsi:type="dcterms:W3CDTF">2026-09-08T19:16:07Z</dcterms:created>
  <dcterms:modified xsi:type="dcterms:W3CDTF">2026-09-08T19:16:07Z</dcterms:modified>
</cp:coreProperties>
</file>